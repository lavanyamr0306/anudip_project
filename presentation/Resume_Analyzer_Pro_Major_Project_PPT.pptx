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 snapToGrid="1" snapToObjects="1"/>
  </p:slideViewPr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Tex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/>
      </a:lvl1pPr>
    </p:titleStyle>
    <p:bodyStyle>
      <a:lvl1pPr marL="0" indent="0">
        <a:defRPr sz="2000"/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Title Slide</a:t>
            </a:r>
            <a:endParaRPr lang="en-US" sz="2800"/>
          </a:p>
        </p:txBody>
      </p:sp>
      <p:sp>
        <p:nvSpPr>
          <p:cNvPr id="3" name="Body 1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Project Title: Resume Analyzer Pro - Automated Resume Analyzer with Job Fit</a:t>
            </a:r>
            <a:endParaRPr lang="en-US" sz="2000"/>
          </a:p>
          <a:p>
            <a:r>
              <a:rPr lang="en-US" sz="2000"/>
              <a:t>Scoring</a:t>
            </a:r>
            <a:endParaRPr lang="en-US" sz="2000"/>
          </a:p>
          <a:p>
            <a:r>
              <a:rPr lang="en-US" sz="2000"/>
              <a:t>Student Name: Lavanya M R</a:t>
            </a:r>
            <a:endParaRPr lang="en-US" sz="2000"/>
          </a:p>
          <a:p>
            <a:r>
              <a:rPr lang="en-US" sz="2000"/>
              <a:t>Roll Number: [Add Your Roll Number]</a:t>
            </a:r>
            <a:endParaRPr lang="en-US" sz="2000"/>
          </a:p>
          <a:p>
            <a:r>
              <a:rPr lang="en-US" sz="2000"/>
              <a:t>Department and College: [Add Department], Sai Vidya Institute of Technology</a:t>
            </a:r>
            <a:endParaRPr lang="en-US" sz="2000"/>
          </a:p>
          <a:p>
            <a:r>
              <a:rPr lang="en-US" sz="2000"/>
              <a:t>Guide/Instructor: [Add Guide or Instructor Name]</a:t>
            </a:r>
            <a:endParaRPr lang="en-US" sz="2000"/>
          </a:p>
          <a:p>
            <a:r>
              <a:rPr lang="en-US" sz="2000"/>
              <a:t>Date: 19 April 2026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Presentation Overview</a:t>
            </a:r>
            <a:endParaRPr lang="en-US" sz="2800"/>
          </a:p>
        </p:txBody>
      </p:sp>
      <p:sp>
        <p:nvSpPr>
          <p:cNvPr id="3" name="Body 2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Introduction and problem context</a:t>
            </a:r>
            <a:endParaRPr lang="en-US" sz="2000"/>
          </a:p>
          <a:p>
            <a:r>
              <a:rPr lang="en-US" sz="2000"/>
              <a:t>Objectives, scope, and literature review</a:t>
            </a:r>
            <a:endParaRPr lang="en-US" sz="2000"/>
          </a:p>
          <a:p>
            <a:r>
              <a:rPr lang="en-US" sz="2000"/>
              <a:t>Existing system and proposed system</a:t>
            </a:r>
            <a:endParaRPr lang="en-US" sz="2000"/>
          </a:p>
          <a:p>
            <a:r>
              <a:rPr lang="en-US" sz="2000"/>
              <a:t>Architecture, methodology, technologies, database, and implementation</a:t>
            </a:r>
            <a:endParaRPr lang="en-US" sz="2000"/>
          </a:p>
          <a:p>
            <a:r>
              <a:rPr lang="en-US" sz="2000"/>
              <a:t>Results, advantages, limitations, future scope, conclusion, and references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Introduction</a:t>
            </a:r>
            <a:endParaRPr lang="en-US" sz="2800"/>
          </a:p>
        </p:txBody>
      </p:sp>
      <p:sp>
        <p:nvSpPr>
          <p:cNvPr id="3" name="Body 3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Resume Analyzer Pro is a web-based application that compares a candidate</a:t>
            </a:r>
            <a:endParaRPr lang="en-US" sz="2000"/>
          </a:p>
          <a:p>
            <a:r>
              <a:rPr lang="en-US" sz="2000"/>
              <a:t>resume with a target job description.</a:t>
            </a:r>
            <a:endParaRPr lang="en-US" sz="2000"/>
          </a:p>
          <a:p>
            <a:r>
              <a:rPr lang="en-US" sz="2000"/>
              <a:t>The system helps users understand resume quality using keyword match,</a:t>
            </a:r>
            <a:endParaRPr lang="en-US" sz="2000"/>
          </a:p>
          <a:p>
            <a:r>
              <a:rPr lang="en-US" sz="2000"/>
              <a:t>tracked skill match, completeness score, and overall job-fit status.</a:t>
            </a:r>
            <a:endParaRPr lang="en-US" sz="2000"/>
          </a:p>
          <a:p>
            <a:r>
              <a:rPr lang="en-US" sz="2000"/>
              <a:t>This topic is important because many resumes are rejected early in screening</a:t>
            </a:r>
            <a:endParaRPr lang="en-US" sz="2000"/>
          </a:p>
          <a:p>
            <a:r>
              <a:rPr lang="en-US" sz="2000"/>
              <a:t>when relevant skills are missing or not expressed clearly.</a:t>
            </a:r>
            <a:endParaRPr lang="en-US" sz="2000"/>
          </a:p>
          <a:p>
            <a:r>
              <a:rPr lang="en-US" sz="2000"/>
              <a:t>The project has real-world relevance for students, job seekers, placement</a:t>
            </a:r>
            <a:endParaRPr lang="en-US" sz="2000"/>
          </a:p>
          <a:p>
            <a:r>
              <a:rPr lang="en-US" sz="2000"/>
              <a:t>cells, and recruiters who need faster and clearer resume evaluation.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Problem Statement</a:t>
            </a:r>
            <a:endParaRPr lang="en-US" sz="2800"/>
          </a:p>
        </p:txBody>
      </p:sp>
      <p:sp>
        <p:nvSpPr>
          <p:cNvPr id="3" name="Body 4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Job applicants often do not know whether their resumes match a specific role</a:t>
            </a:r>
            <a:endParaRPr lang="en-US" sz="2000"/>
          </a:p>
          <a:p>
            <a:r>
              <a:rPr lang="en-US" sz="2000"/>
              <a:t>before applying.</a:t>
            </a:r>
            <a:endParaRPr lang="en-US" sz="2000"/>
          </a:p>
          <a:p>
            <a:r>
              <a:rPr lang="en-US" sz="2000"/>
              <a:t>Manual checking is slow and inconsistent, and many candidates receive</a:t>
            </a:r>
            <a:endParaRPr lang="en-US" sz="2000"/>
          </a:p>
          <a:p>
            <a:r>
              <a:rPr lang="en-US" sz="2000"/>
              <a:t>rejection without any actionable feedback.</a:t>
            </a:r>
            <a:endParaRPr lang="en-US" sz="2000"/>
          </a:p>
          <a:p>
            <a:r>
              <a:rPr lang="en-US" sz="2000"/>
              <a:t>The affected users are students, fresh graduates, job seekers, mentors, and</a:t>
            </a:r>
            <a:endParaRPr lang="en-US" sz="2000"/>
          </a:p>
          <a:p>
            <a:r>
              <a:rPr lang="en-US" sz="2000"/>
              <a:t>administrators who review many resumes.</a:t>
            </a:r>
            <a:endParaRPr lang="en-US" sz="2000"/>
          </a:p>
          <a:p>
            <a:r>
              <a:rPr lang="en-US" sz="2000"/>
              <a:t>The project solves the gap between resume preparation and recruiter</a:t>
            </a:r>
            <a:endParaRPr lang="en-US" sz="2000"/>
          </a:p>
          <a:p>
            <a:r>
              <a:rPr lang="en-US" sz="2000"/>
              <a:t>expectation by providing structured analysis and suggestions.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Objectives</a:t>
            </a:r>
            <a:endParaRPr lang="en-US" sz="2800"/>
          </a:p>
        </p:txBody>
      </p:sp>
      <p:sp>
        <p:nvSpPr>
          <p:cNvPr id="3" name="Body 5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To build a web application for resume analysis against a job description.</a:t>
            </a:r>
            <a:endParaRPr lang="en-US" sz="2000"/>
          </a:p>
          <a:p>
            <a:r>
              <a:rPr lang="en-US" sz="2000"/>
              <a:t>To support both file upload and pasted resume text as input methods.</a:t>
            </a:r>
            <a:endParaRPr lang="en-US" sz="2000"/>
          </a:p>
          <a:p>
            <a:r>
              <a:rPr lang="en-US" sz="2000"/>
              <a:t>To compute keyword match, tracked skills score, completeness score, and</a:t>
            </a:r>
            <a:endParaRPr lang="en-US" sz="2000"/>
          </a:p>
          <a:p>
            <a:r>
              <a:rPr lang="en-US" sz="2000"/>
              <a:t>final score.</a:t>
            </a:r>
            <a:endParaRPr lang="en-US" sz="2000"/>
          </a:p>
          <a:p>
            <a:r>
              <a:rPr lang="en-US" sz="2000"/>
              <a:t>To identify matched skills, missing skills, and recommended job roles.</a:t>
            </a:r>
            <a:endParaRPr lang="en-US" sz="2000"/>
          </a:p>
          <a:p>
            <a:r>
              <a:rPr lang="en-US" sz="2000"/>
              <a:t>To maintain history, PDF export, and an admin dashboard for supervision.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Scope of the Project</a:t>
            </a:r>
            <a:endParaRPr lang="en-US" sz="2800"/>
          </a:p>
        </p:txBody>
      </p:sp>
      <p:sp>
        <p:nvSpPr>
          <p:cNvPr id="3" name="Body 6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Covers user registration, login, resume upload or text input, job</a:t>
            </a:r>
            <a:endParaRPr lang="en-US" sz="2000"/>
          </a:p>
          <a:p>
            <a:r>
              <a:rPr lang="en-US" sz="2000"/>
              <a:t>description submission, score calculation, history storage, and PDF report</a:t>
            </a:r>
            <a:endParaRPr lang="en-US" sz="2000"/>
          </a:p>
          <a:p>
            <a:r>
              <a:rPr lang="en-US" sz="2000"/>
              <a:t>generation.</a:t>
            </a:r>
            <a:endParaRPr lang="en-US" sz="2000"/>
          </a:p>
          <a:p>
            <a:r>
              <a:rPr lang="en-US" sz="2000"/>
              <a:t>Includes an administrator module for user management, analysis review,</a:t>
            </a:r>
            <a:endParaRPr lang="en-US" sz="2000"/>
          </a:p>
          <a:p>
            <a:r>
              <a:rPr lang="en-US" sz="2000"/>
              <a:t>account locking, and deletion.</a:t>
            </a:r>
            <a:endParaRPr lang="en-US" sz="2000"/>
          </a:p>
          <a:p>
            <a:r>
              <a:rPr lang="en-US" sz="2000"/>
              <a:t>Supports rule-based recommendation of suitable job roles using a predefined</a:t>
            </a:r>
            <a:endParaRPr lang="en-US" sz="2000"/>
          </a:p>
          <a:p>
            <a:r>
              <a:rPr lang="en-US" sz="2000"/>
              <a:t>technical skills list.</a:t>
            </a:r>
            <a:endParaRPr lang="en-US" sz="2000"/>
          </a:p>
          <a:p>
            <a:r>
              <a:rPr lang="en-US" sz="2000"/>
              <a:t>Does not cover ML-based semantic ranking, production-grade security,</a:t>
            </a:r>
            <a:endParaRPr lang="en-US" sz="2000"/>
          </a:p>
          <a:p>
            <a:r>
              <a:rPr lang="en-US" sz="2000"/>
              <a:t>external job portal integration, or cloud-native deployment automation.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Literature Review</a:t>
            </a:r>
            <a:endParaRPr lang="en-US" sz="2800"/>
          </a:p>
        </p:txBody>
      </p:sp>
      <p:sp>
        <p:nvSpPr>
          <p:cNvPr id="3" name="Body 7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Spring Boot Documentation, 2024-2026: rapid enterprise Java web development</a:t>
            </a:r>
            <a:endParaRPr lang="en-US" sz="2000"/>
          </a:p>
          <a:p>
            <a:r>
              <a:rPr lang="en-US" sz="2000"/>
              <a:t>with layered architecture.</a:t>
            </a:r>
            <a:endParaRPr lang="en-US" sz="2000"/>
          </a:p>
          <a:p>
            <a:r>
              <a:rPr lang="en-US" sz="2000"/>
              <a:t>Thymeleaf Documentation, 2024-2026: server-side rendered HTML interfaces for</a:t>
            </a:r>
            <a:endParaRPr lang="en-US" sz="2000"/>
          </a:p>
          <a:p>
            <a:r>
              <a:rPr lang="en-US" sz="2000"/>
              <a:t>form-driven applications.</a:t>
            </a:r>
            <a:endParaRPr lang="en-US" sz="2000"/>
          </a:p>
          <a:p>
            <a:r>
              <a:rPr lang="en-US" sz="2000"/>
              <a:t>Apache Tika Documentation, 2024-2026: text extraction from uploaded</a:t>
            </a:r>
            <a:endParaRPr lang="en-US" sz="2000"/>
          </a:p>
          <a:p>
            <a:r>
              <a:rPr lang="en-US" sz="2000"/>
              <a:t>documents such as PDF and DOCX files.</a:t>
            </a:r>
            <a:endParaRPr lang="en-US" sz="2000"/>
          </a:p>
          <a:p>
            <a:r>
              <a:rPr lang="en-US" sz="2000"/>
              <a:t>Existing ATS resume screeners mainly focus on keyword filtering, but many</a:t>
            </a:r>
            <a:endParaRPr lang="en-US" sz="2000"/>
          </a:p>
          <a:p>
            <a:r>
              <a:rPr lang="en-US" sz="2000"/>
              <a:t>tools do not provide transparent score breakdown or admin supervision.</a:t>
            </a:r>
            <a:endParaRPr lang="en-US" sz="2000"/>
          </a:p>
          <a:p>
            <a:r>
              <a:rPr lang="en-US" sz="2000"/>
              <a:t>This project combines content extraction, scoring, history, and</a:t>
            </a:r>
            <a:endParaRPr lang="en-US" sz="2000"/>
          </a:p>
          <a:p>
            <a:r>
              <a:rPr lang="en-US" sz="2000"/>
              <a:t>administration into one academic prototype.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Existing System</a:t>
            </a:r>
            <a:endParaRPr lang="en-US" sz="2800"/>
          </a:p>
        </p:txBody>
      </p:sp>
      <p:sp>
        <p:nvSpPr>
          <p:cNvPr id="3" name="Body 8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Current resume evaluation is often done manually or with disconnected online</a:t>
            </a:r>
            <a:endParaRPr lang="en-US" sz="2000"/>
          </a:p>
          <a:p>
            <a:r>
              <a:rPr lang="en-US" sz="2000"/>
              <a:t>tools.</a:t>
            </a:r>
            <a:endParaRPr lang="en-US" sz="2000"/>
          </a:p>
          <a:p>
            <a:r>
              <a:rPr lang="en-US" sz="2000"/>
              <a:t>Many tools provide only generic tips or a single opaque score without</a:t>
            </a:r>
            <a:endParaRPr lang="en-US" sz="2000"/>
          </a:p>
          <a:p>
            <a:r>
              <a:rPr lang="en-US" sz="2000"/>
              <a:t>matched and missing skill details.</a:t>
            </a:r>
            <a:endParaRPr lang="en-US" sz="2000"/>
          </a:p>
          <a:p>
            <a:r>
              <a:rPr lang="en-US" sz="2000"/>
              <a:t>Conventional review consumes time and does not maintain a structured history</a:t>
            </a:r>
            <a:endParaRPr lang="en-US" sz="2000"/>
          </a:p>
          <a:p>
            <a:r>
              <a:rPr lang="en-US" sz="2000"/>
              <a:t>of previous analyses.</a:t>
            </a:r>
            <a:endParaRPr lang="en-US" sz="2000"/>
          </a:p>
          <a:p>
            <a:r>
              <a:rPr lang="en-US" sz="2000"/>
              <a:t>Administrative monitoring is usually absent, so institutions cannot easily</a:t>
            </a:r>
            <a:endParaRPr lang="en-US" sz="2000"/>
          </a:p>
          <a:p>
            <a:r>
              <a:rPr lang="en-US" sz="2000"/>
              <a:t>observe user activity or resume improvement patterns.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Proposed System</a:t>
            </a:r>
            <a:endParaRPr lang="en-US" sz="2800"/>
          </a:p>
        </p:txBody>
      </p:sp>
      <p:sp>
        <p:nvSpPr>
          <p:cNvPr id="3" name="Body 9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The proposed solution is Resume Analyzer Pro, a centralized web application</a:t>
            </a:r>
            <a:endParaRPr lang="en-US" sz="2000"/>
          </a:p>
          <a:p>
            <a:r>
              <a:rPr lang="en-US" sz="2000"/>
              <a:t>for resume screening and job-fit scoring.</a:t>
            </a:r>
            <a:endParaRPr lang="en-US" sz="2000"/>
          </a:p>
          <a:p>
            <a:r>
              <a:rPr lang="en-US" sz="2000"/>
              <a:t>It accepts uploaded resumes or pasted text, compares them with a job</a:t>
            </a:r>
            <a:endParaRPr lang="en-US" sz="2000"/>
          </a:p>
          <a:p>
            <a:r>
              <a:rPr lang="en-US" sz="2000"/>
              <a:t>description, and generates interpretable results.</a:t>
            </a:r>
            <a:endParaRPr lang="en-US" sz="2000"/>
          </a:p>
          <a:p>
            <a:r>
              <a:rPr lang="en-US" sz="2000"/>
              <a:t>The system stores analysis history, visualizes progress, exports PDF</a:t>
            </a:r>
            <a:endParaRPr lang="en-US" sz="2000"/>
          </a:p>
          <a:p>
            <a:r>
              <a:rPr lang="en-US" sz="2000"/>
              <a:t>reports, and recommends relevant roles.</a:t>
            </a:r>
            <a:endParaRPr lang="en-US" sz="2000"/>
          </a:p>
          <a:p>
            <a:r>
              <a:rPr lang="en-US" sz="2000"/>
              <a:t>A dedicated admin dashboard improves control by enabling user review,</a:t>
            </a:r>
            <a:endParaRPr lang="en-US" sz="2000"/>
          </a:p>
          <a:p>
            <a:r>
              <a:rPr lang="en-US" sz="2000"/>
              <a:t>account lock or unlock, and detailed analysis inspection.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System Architecture / Design</a:t>
            </a:r>
            <a:endParaRPr lang="en-US" sz="2800"/>
          </a:p>
        </p:txBody>
      </p:sp>
      <p:sp>
        <p:nvSpPr>
          <p:cNvPr id="3" name="Body 10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User/Admin -&gt; Thymeleaf UI -&gt; Spring MVC Controllers -&gt; Service Layer -&gt; JPA</a:t>
            </a:r>
            <a:endParaRPr lang="en-US" sz="2000"/>
          </a:p>
          <a:p>
            <a:r>
              <a:rPr lang="en-US" sz="2000"/>
              <a:t>Repositories -&gt; MySQL Database</a:t>
            </a:r>
            <a:endParaRPr lang="en-US" sz="2000"/>
          </a:p>
          <a:p>
            <a:r>
              <a:rPr lang="en-US" sz="2000"/>
              <a:t>Uploaded file -&gt; Apache Tika Parser -&gt; Resume text extraction -&gt; scoring and</a:t>
            </a:r>
            <a:endParaRPr lang="en-US" sz="2000"/>
          </a:p>
          <a:p>
            <a:r>
              <a:rPr lang="en-US" sz="2000"/>
              <a:t>analysis pipeline</a:t>
            </a:r>
            <a:endParaRPr lang="en-US" sz="2000"/>
          </a:p>
          <a:p>
            <a:r>
              <a:rPr lang="en-US" sz="2000"/>
              <a:t>Saved analysis -&gt; dashboard history -&gt; PDF export using iText</a:t>
            </a:r>
            <a:endParaRPr lang="en-US" sz="2000"/>
          </a:p>
          <a:p>
            <a:r>
              <a:rPr lang="en-US" sz="2000"/>
              <a:t>The architecture follows a layered pattern for maintainability, readability,</a:t>
            </a:r>
            <a:endParaRPr lang="en-US" sz="2000"/>
          </a:p>
          <a:p>
            <a:r>
              <a:rPr lang="en-US" sz="2000"/>
              <a:t>and clear separation of concerns.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Architecture Components</a:t>
            </a:r>
            <a:endParaRPr lang="en-US" sz="2800"/>
          </a:p>
        </p:txBody>
      </p:sp>
      <p:sp>
        <p:nvSpPr>
          <p:cNvPr id="3" name="Body 11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Presentation Layer: landing, login, register, dashboard, admin dashboard,</a:t>
            </a:r>
            <a:endParaRPr lang="en-US" sz="2000"/>
          </a:p>
          <a:p>
            <a:r>
              <a:rPr lang="en-US" sz="2000"/>
              <a:t>admin detail pages.</a:t>
            </a:r>
            <a:endParaRPr lang="en-US" sz="2000"/>
          </a:p>
          <a:p>
            <a:r>
              <a:rPr lang="en-US" sz="2000"/>
              <a:t>Controller Layer: AuthController, ResumeController, and AdminController</a:t>
            </a:r>
            <a:endParaRPr lang="en-US" sz="2000"/>
          </a:p>
          <a:p>
            <a:r>
              <a:rPr lang="en-US" sz="2000"/>
              <a:t>handle routing and model preparation.</a:t>
            </a:r>
            <a:endParaRPr lang="en-US" sz="2000"/>
          </a:p>
          <a:p>
            <a:r>
              <a:rPr lang="en-US" sz="2000"/>
              <a:t>Service Layer: UserService and ResumeService implement validation, parsing,</a:t>
            </a:r>
            <a:endParaRPr lang="en-US" sz="2000"/>
          </a:p>
          <a:p>
            <a:r>
              <a:rPr lang="en-US" sz="2000"/>
              <a:t>scoring, recommendation, and persistence logic.</a:t>
            </a:r>
            <a:endParaRPr lang="en-US" sz="2000"/>
          </a:p>
          <a:p>
            <a:r>
              <a:rPr lang="en-US" sz="2000"/>
              <a:t>Data Layer: UserRepository, ResumeRepository, and AnalysisRepository manage</a:t>
            </a:r>
            <a:endParaRPr lang="en-US" sz="2000"/>
          </a:p>
          <a:p>
            <a:r>
              <a:rPr lang="en-US" sz="2000"/>
              <a:t>MySQL persistence through Spring Data JPA.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Methodology</a:t>
            </a:r>
            <a:endParaRPr lang="en-US" sz="2800"/>
          </a:p>
        </p:txBody>
      </p:sp>
      <p:sp>
        <p:nvSpPr>
          <p:cNvPr id="3" name="Body 12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Step 1: user registers or logs in to the application.</a:t>
            </a:r>
            <a:endParaRPr lang="en-US" sz="2000"/>
          </a:p>
          <a:p>
            <a:r>
              <a:rPr lang="en-US" sz="2000"/>
              <a:t>Step 2: resume is uploaded as a document or entered as plain text.</a:t>
            </a:r>
            <a:endParaRPr lang="en-US" sz="2000"/>
          </a:p>
          <a:p>
            <a:r>
              <a:rPr lang="en-US" sz="2000"/>
              <a:t>Step 3: Apache Tika extracts content from the uploaded file when needed.</a:t>
            </a:r>
            <a:endParaRPr lang="en-US" sz="2000"/>
          </a:p>
          <a:p>
            <a:r>
              <a:rPr lang="en-US" sz="2000"/>
              <a:t>Step 4: the system normalizes resume text and job description, then computes</a:t>
            </a:r>
            <a:endParaRPr lang="en-US" sz="2000"/>
          </a:p>
          <a:p>
            <a:r>
              <a:rPr lang="en-US" sz="2000"/>
              <a:t>keyword, skill, and completeness scores.</a:t>
            </a:r>
            <a:endParaRPr lang="en-US" sz="2000"/>
          </a:p>
          <a:p>
            <a:r>
              <a:rPr lang="en-US" sz="2000"/>
              <a:t>Step 5: final score, status, insight, matched skills, missing skills, and</a:t>
            </a:r>
            <a:endParaRPr lang="en-US" sz="2000"/>
          </a:p>
          <a:p>
            <a:r>
              <a:rPr lang="en-US" sz="2000"/>
              <a:t>recommended roles are stored and displayed.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Technologies Used</a:t>
            </a:r>
            <a:endParaRPr lang="en-US" sz="2800"/>
          </a:p>
        </p:txBody>
      </p:sp>
      <p:sp>
        <p:nvSpPr>
          <p:cNvPr id="3" name="Body 13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Programming Language: Java</a:t>
            </a:r>
            <a:endParaRPr lang="en-US" sz="2000"/>
          </a:p>
          <a:p>
            <a:r>
              <a:rPr lang="en-US" sz="2000"/>
              <a:t>Framework: Spring Boot 3.2.0</a:t>
            </a:r>
            <a:endParaRPr lang="en-US" sz="2000"/>
          </a:p>
          <a:p>
            <a:r>
              <a:rPr lang="en-US" sz="2000"/>
              <a:t>Frontend: Thymeleaf templates, HTML, CSS, and dashboard visualization</a:t>
            </a:r>
            <a:endParaRPr lang="en-US" sz="2000"/>
          </a:p>
          <a:p>
            <a:r>
              <a:rPr lang="en-US" sz="2000"/>
              <a:t>Database: MySQL with Spring Data JPA and Hibernate</a:t>
            </a:r>
            <a:endParaRPr lang="en-US" sz="2000"/>
          </a:p>
          <a:p>
            <a:r>
              <a:rPr lang="en-US" sz="2000"/>
              <a:t>Libraries and Tools: Apache Tika, iText PDF, Maven, IntelliJ or Eclipse, Git</a:t>
            </a:r>
            <a:endParaRPr lang="en-US" sz="2000"/>
          </a:p>
          <a:p>
            <a:r>
              <a:rPr lang="en-US" sz="2000"/>
              <a:t>and GitHub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Database Design</a:t>
            </a:r>
            <a:endParaRPr lang="en-US" sz="2800"/>
          </a:p>
        </p:txBody>
      </p:sp>
      <p:sp>
        <p:nvSpPr>
          <p:cNvPr id="3" name="Body 14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Main entities: User, Resume, and Analysis.</a:t>
            </a:r>
            <a:endParaRPr lang="en-US" sz="2000"/>
          </a:p>
          <a:p>
            <a:r>
              <a:rPr lang="en-US" sz="2000"/>
              <a:t>User stores name, email, password, role, and locked status.</a:t>
            </a:r>
            <a:endParaRPr lang="en-US" sz="2000"/>
          </a:p>
          <a:p>
            <a:r>
              <a:rPr lang="en-US" sz="2000"/>
              <a:t>Resume stores file name, extracted content, score, and the linked user.</a:t>
            </a:r>
            <a:endParaRPr lang="en-US" sz="2000"/>
          </a:p>
          <a:p>
            <a:r>
              <a:rPr lang="en-US" sz="2000"/>
              <a:t>Analysis stores final score, score breakdown, status, insight, file name,</a:t>
            </a:r>
            <a:endParaRPr lang="en-US" sz="2000"/>
          </a:p>
          <a:p>
            <a:r>
              <a:rPr lang="en-US" sz="2000"/>
              <a:t>job description, created time, and the linked user.</a:t>
            </a:r>
            <a:endParaRPr lang="en-US" sz="2000"/>
          </a:p>
          <a:p>
            <a:r>
              <a:rPr lang="en-US" sz="2000"/>
              <a:t>Element collection tables store matched skills, missing skills, and</a:t>
            </a:r>
            <a:endParaRPr lang="en-US" sz="2000"/>
          </a:p>
          <a:p>
            <a:r>
              <a:rPr lang="en-US" sz="2000"/>
              <a:t>recommended jobs for each analysis.</a:t>
            </a: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Implementation</a:t>
            </a:r>
            <a:endParaRPr lang="en-US" sz="2800"/>
          </a:p>
        </p:txBody>
      </p:sp>
      <p:sp>
        <p:nvSpPr>
          <p:cNvPr id="3" name="Body 15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Authentication module manages registration, login, session handling, logout,</a:t>
            </a:r>
            <a:endParaRPr lang="en-US" sz="2000"/>
          </a:p>
          <a:p>
            <a:r>
              <a:rPr lang="en-US" sz="2000"/>
              <a:t>admin access, and user lock checks.</a:t>
            </a:r>
            <a:endParaRPr lang="en-US" sz="2000"/>
          </a:p>
          <a:p>
            <a:r>
              <a:rPr lang="en-US" sz="2000"/>
              <a:t>Resume analysis module handles file upload, pasted text storage, text</a:t>
            </a:r>
            <a:endParaRPr lang="en-US" sz="2000"/>
          </a:p>
          <a:p>
            <a:r>
              <a:rPr lang="en-US" sz="2000"/>
              <a:t>extraction, scoring, skill matching, and recommendation.</a:t>
            </a:r>
            <a:endParaRPr lang="en-US" sz="2000"/>
          </a:p>
          <a:p>
            <a:r>
              <a:rPr lang="en-US" sz="2000"/>
              <a:t>History module stores every analysis, supports view-more pagination, and</a:t>
            </a:r>
            <a:endParaRPr lang="en-US" sz="2000"/>
          </a:p>
          <a:p>
            <a:r>
              <a:rPr lang="en-US" sz="2000"/>
              <a:t>reloads selected reports on the dashboard.</a:t>
            </a:r>
            <a:endParaRPr lang="en-US" sz="2000"/>
          </a:p>
          <a:p>
            <a:r>
              <a:rPr lang="en-US" sz="2000"/>
              <a:t>PDF module generates downloadable analysis reports using iText.</a:t>
            </a:r>
            <a:endParaRPr lang="en-US" sz="2000"/>
          </a:p>
          <a:p>
            <a:r>
              <a:rPr lang="en-US" sz="2000"/>
              <a:t>Admin module allows user listing, analysis review, per-user details, account</a:t>
            </a:r>
            <a:endParaRPr lang="en-US" sz="2000"/>
          </a:p>
          <a:p>
            <a:r>
              <a:rPr lang="en-US" sz="2000"/>
              <a:t>suspension, and deletion.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6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User Module Flow</a:t>
            </a:r>
            <a:endParaRPr lang="en-US" sz="2800"/>
          </a:p>
        </p:txBody>
      </p:sp>
      <p:sp>
        <p:nvSpPr>
          <p:cNvPr id="3" name="Body 16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Landing page introduces features and directs users to registration or login.</a:t>
            </a:r>
            <a:endParaRPr lang="en-US" sz="2000"/>
          </a:p>
          <a:p>
            <a:r>
              <a:rPr lang="en-US" sz="2000"/>
              <a:t>Registered users reach the dashboard and submit resume content plus job</a:t>
            </a:r>
            <a:endParaRPr lang="en-US" sz="2000"/>
          </a:p>
          <a:p>
            <a:r>
              <a:rPr lang="en-US" sz="2000"/>
              <a:t>description.</a:t>
            </a:r>
            <a:endParaRPr lang="en-US" sz="2000"/>
          </a:p>
          <a:p>
            <a:r>
              <a:rPr lang="en-US" sz="2000"/>
              <a:t>Dashboard displays total analyses, latest score, current status, matched</a:t>
            </a:r>
            <a:endParaRPr lang="en-US" sz="2000"/>
          </a:p>
          <a:p>
            <a:r>
              <a:rPr lang="en-US" sz="2000"/>
              <a:t>skills, missing skills, recommendations, and recent score trend.</a:t>
            </a:r>
            <a:endParaRPr lang="en-US" sz="2000"/>
          </a:p>
          <a:p>
            <a:r>
              <a:rPr lang="en-US" sz="2000"/>
              <a:t>Users can reopen old analyses from history and export the active result as a</a:t>
            </a:r>
            <a:endParaRPr lang="en-US" sz="2000"/>
          </a:p>
          <a:p>
            <a:r>
              <a:rPr lang="en-US" sz="2000"/>
              <a:t>PDF document.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Admin Module Flow</a:t>
            </a:r>
            <a:endParaRPr lang="en-US" sz="2800"/>
          </a:p>
        </p:txBody>
      </p:sp>
      <p:sp>
        <p:nvSpPr>
          <p:cNvPr id="3" name="Body 17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Admin account is identified through role-based login logic in UserService</a:t>
            </a:r>
            <a:endParaRPr lang="en-US" sz="2000"/>
          </a:p>
          <a:p>
            <a:r>
              <a:rPr lang="en-US" sz="2000"/>
              <a:t>and AdminController.</a:t>
            </a:r>
            <a:endParaRPr lang="en-US" sz="2000"/>
          </a:p>
          <a:p>
            <a:r>
              <a:rPr lang="en-US" sz="2000"/>
              <a:t>Admin dashboard shows all users and all analyses available in the platform.</a:t>
            </a:r>
            <a:endParaRPr lang="en-US" sz="2000"/>
          </a:p>
          <a:p>
            <a:r>
              <a:rPr lang="en-US" sz="2000"/>
              <a:t>Admin can inspect an individual user's resumes and paginated analysis</a:t>
            </a:r>
            <a:endParaRPr lang="en-US" sz="2000"/>
          </a:p>
          <a:p>
            <a:r>
              <a:rPr lang="en-US" sz="2000"/>
              <a:t>history.</a:t>
            </a:r>
            <a:endParaRPr lang="en-US" sz="2000"/>
          </a:p>
          <a:p>
            <a:r>
              <a:rPr lang="en-US" sz="2000"/>
              <a:t>Admin can toggle account lock status and delete a user along with dependent</a:t>
            </a:r>
            <a:endParaRPr lang="en-US" sz="2000"/>
          </a:p>
          <a:p>
            <a:r>
              <a:rPr lang="en-US" sz="2000"/>
              <a:t>resume and analysis records.</a:t>
            </a:r>
            <a:endParaRPr 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8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Results / Output</a:t>
            </a:r>
            <a:endParaRPr lang="en-US" sz="2800"/>
          </a:p>
        </p:txBody>
      </p:sp>
      <p:sp>
        <p:nvSpPr>
          <p:cNvPr id="3" name="Body 18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Output 1: dashboard shows final score, keyword match score, tracked skills</a:t>
            </a:r>
            <a:endParaRPr lang="en-US" sz="2000"/>
          </a:p>
          <a:p>
            <a:r>
              <a:rPr lang="en-US" sz="2000"/>
              <a:t>score, completeness score, and status.</a:t>
            </a:r>
            <a:endParaRPr lang="en-US" sz="2000"/>
          </a:p>
          <a:p>
            <a:r>
              <a:rPr lang="en-US" sz="2000"/>
              <a:t>Output 2: system lists matched skills, missing skills, and recommended job</a:t>
            </a:r>
            <a:endParaRPr lang="en-US" sz="2000"/>
          </a:p>
          <a:p>
            <a:r>
              <a:rPr lang="en-US" sz="2000"/>
              <a:t>roles for the submitted job description.</a:t>
            </a:r>
            <a:endParaRPr lang="en-US" sz="2000"/>
          </a:p>
          <a:p>
            <a:r>
              <a:rPr lang="en-US" sz="2000"/>
              <a:t>Output 3: score history is preserved and recent runs can be revisited from</a:t>
            </a:r>
            <a:endParaRPr lang="en-US" sz="2000"/>
          </a:p>
          <a:p>
            <a:r>
              <a:rPr lang="en-US" sz="2000"/>
              <a:t>the history panel.</a:t>
            </a:r>
            <a:endParaRPr lang="en-US" sz="2000"/>
          </a:p>
          <a:p>
            <a:r>
              <a:rPr lang="en-US" sz="2000"/>
              <a:t>Output 4: PDF report generation produces a downloadable analysis summary for</a:t>
            </a:r>
            <a:endParaRPr lang="en-US" sz="2000"/>
          </a:p>
          <a:p>
            <a:r>
              <a:rPr lang="en-US" sz="2000"/>
              <a:t>the selected record.</a:t>
            </a:r>
            <a:endParaRPr lang="en-US" sz="2000"/>
          </a:p>
          <a:p>
            <a:r>
              <a:rPr lang="en-US" sz="2000"/>
              <a:t>Output 5: admin dashboard enables platform-level monitoring and detailed</a:t>
            </a:r>
            <a:endParaRPr lang="en-US" sz="2000"/>
          </a:p>
          <a:p>
            <a:r>
              <a:rPr lang="en-US" sz="2000"/>
              <a:t>user analysis review.</a:t>
            </a:r>
            <a:endParaRPr 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Advantages</a:t>
            </a:r>
            <a:endParaRPr lang="en-US" sz="2800"/>
          </a:p>
        </p:txBody>
      </p:sp>
      <p:sp>
        <p:nvSpPr>
          <p:cNvPr id="3" name="Body 19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Provides immediate and understandable resume feedback instead of a vague</a:t>
            </a:r>
            <a:endParaRPr lang="en-US" sz="2000"/>
          </a:p>
          <a:p>
            <a:r>
              <a:rPr lang="en-US" sz="2000"/>
              <a:t>rejection outcome.</a:t>
            </a:r>
            <a:endParaRPr lang="en-US" sz="2000"/>
          </a:p>
          <a:p>
            <a:r>
              <a:rPr lang="en-US" sz="2000"/>
              <a:t>Supports both uploaded documents and pasted text for flexible usage.</a:t>
            </a:r>
            <a:endParaRPr lang="en-US" sz="2000"/>
          </a:p>
          <a:p>
            <a:r>
              <a:rPr lang="en-US" sz="2000"/>
              <a:t>Stores analysis history, enabling repeated improvement and comparison over</a:t>
            </a:r>
            <a:endParaRPr lang="en-US" sz="2000"/>
          </a:p>
          <a:p>
            <a:r>
              <a:rPr lang="en-US" sz="2000"/>
              <a:t>time.</a:t>
            </a:r>
            <a:endParaRPr lang="en-US" sz="2000"/>
          </a:p>
          <a:p>
            <a:r>
              <a:rPr lang="en-US" sz="2000"/>
              <a:t>Includes admin control, which makes the project suitable for academic labs</a:t>
            </a:r>
            <a:endParaRPr lang="en-US" sz="2000"/>
          </a:p>
          <a:p>
            <a:r>
              <a:rPr lang="en-US" sz="2000"/>
              <a:t>or placement support use cases.</a:t>
            </a:r>
            <a:endParaRPr lang="en-US" sz="2000"/>
          </a:p>
          <a:p>
            <a:r>
              <a:rPr lang="en-US" sz="2000"/>
              <a:t>Uses a practical full-stack architecture with database integration, parsing,</a:t>
            </a:r>
            <a:endParaRPr lang="en-US" sz="2000"/>
          </a:p>
          <a:p>
            <a:r>
              <a:rPr lang="en-US" sz="2000"/>
              <a:t>analytics, and reporting.</a:t>
            </a:r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Limitations</a:t>
            </a:r>
            <a:endParaRPr lang="en-US" sz="2800"/>
          </a:p>
        </p:txBody>
      </p:sp>
      <p:sp>
        <p:nvSpPr>
          <p:cNvPr id="3" name="Body 20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The scoring approach is rule-based and keyword-driven, so it does not</a:t>
            </a:r>
            <a:endParaRPr lang="en-US" sz="2000"/>
          </a:p>
          <a:p>
            <a:r>
              <a:rPr lang="en-US" sz="2000"/>
              <a:t>capture full semantic meaning.</a:t>
            </a:r>
            <a:endParaRPr lang="en-US" sz="2000"/>
          </a:p>
          <a:p>
            <a:r>
              <a:rPr lang="en-US" sz="2000"/>
              <a:t>Passwords are stored directly in the current implementation and should be</a:t>
            </a:r>
            <a:endParaRPr lang="en-US" sz="2000"/>
          </a:p>
          <a:p>
            <a:r>
              <a:rPr lang="en-US" sz="2000"/>
              <a:t>secured further for production use.</a:t>
            </a:r>
            <a:endParaRPr lang="en-US" sz="2000"/>
          </a:p>
          <a:p>
            <a:r>
              <a:rPr lang="en-US" sz="2000"/>
              <a:t>Recommendation logic depends on a predefined skills inventory and simple</a:t>
            </a:r>
            <a:endParaRPr lang="en-US" sz="2000"/>
          </a:p>
          <a:p>
            <a:r>
              <a:rPr lang="en-US" sz="2000"/>
              <a:t>mapping rules.</a:t>
            </a:r>
            <a:endParaRPr lang="en-US" sz="2000"/>
          </a:p>
          <a:p>
            <a:r>
              <a:rPr lang="en-US" sz="2000"/>
              <a:t>The project does not yet integrate live job APIs, cloud hosting pipelines,</a:t>
            </a:r>
            <a:endParaRPr lang="en-US" sz="2000"/>
          </a:p>
          <a:p>
            <a:r>
              <a:rPr lang="en-US" sz="2000"/>
              <a:t>or advanced recruiter workflows.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Future Scope</a:t>
            </a:r>
            <a:endParaRPr lang="en-US" sz="2800"/>
          </a:p>
        </p:txBody>
      </p:sp>
      <p:sp>
        <p:nvSpPr>
          <p:cNvPr id="3" name="Body 21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Integrate password hashing, stronger role-based authorization, and</a:t>
            </a:r>
            <a:endParaRPr lang="en-US" sz="2000"/>
          </a:p>
          <a:p>
            <a:r>
              <a:rPr lang="en-US" sz="2000"/>
              <a:t>production-grade security.</a:t>
            </a:r>
            <a:endParaRPr lang="en-US" sz="2000"/>
          </a:p>
          <a:p>
            <a:r>
              <a:rPr lang="en-US" sz="2000"/>
              <a:t>Add machine learning or semantic similarity models for deeper resume-job</a:t>
            </a:r>
            <a:endParaRPr lang="en-US" sz="2000"/>
          </a:p>
          <a:p>
            <a:r>
              <a:rPr lang="en-US" sz="2000"/>
              <a:t>matching.</a:t>
            </a:r>
            <a:endParaRPr lang="en-US" sz="2000"/>
          </a:p>
          <a:p>
            <a:r>
              <a:rPr lang="en-US" sz="2000"/>
              <a:t>Enhance recommendations using section-wise analysis of projects,</a:t>
            </a:r>
            <a:endParaRPr lang="en-US" sz="2000"/>
          </a:p>
          <a:p>
            <a:r>
              <a:rPr lang="en-US" sz="2000"/>
              <a:t>internships, certifications, and education.</a:t>
            </a:r>
            <a:endParaRPr lang="en-US" sz="2000"/>
          </a:p>
          <a:p>
            <a:r>
              <a:rPr lang="en-US" sz="2000"/>
              <a:t>Connect the platform to job boards, cloud deployment, email notifications,</a:t>
            </a:r>
            <a:endParaRPr lang="en-US" sz="2000"/>
          </a:p>
          <a:p>
            <a:r>
              <a:rPr lang="en-US" sz="2000"/>
              <a:t>and AI-assisted resume rewriting.</a:t>
            </a:r>
            <a:endParaRPr lang="en-US" sz="2000"/>
          </a:p>
          <a:p>
            <a:r>
              <a:rPr lang="en-US" sz="2000"/>
              <a:t>Provide richer analytics dashboards for administrators to track skill trends</a:t>
            </a:r>
            <a:endParaRPr lang="en-US" sz="2000"/>
          </a:p>
          <a:p>
            <a:r>
              <a:rPr lang="en-US" sz="2000"/>
              <a:t>and common candidate gaps.</a:t>
            </a:r>
            <a:endParaRPr 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Conclusion</a:t>
            </a:r>
            <a:endParaRPr lang="en-US" sz="2800"/>
          </a:p>
        </p:txBody>
      </p:sp>
      <p:sp>
        <p:nvSpPr>
          <p:cNvPr id="3" name="Body 22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Resume Analyzer Pro successfully demonstrates a complete major project that</a:t>
            </a:r>
            <a:endParaRPr lang="en-US" sz="2000"/>
          </a:p>
          <a:p>
            <a:r>
              <a:rPr lang="en-US" sz="2000"/>
              <a:t>solves a practical career-focused problem.</a:t>
            </a:r>
            <a:endParaRPr lang="en-US" sz="2000"/>
          </a:p>
          <a:p>
            <a:r>
              <a:rPr lang="en-US" sz="2000"/>
              <a:t>The project combines resume parsing, job-fit scoring, history tracking, PDF</a:t>
            </a:r>
            <a:endParaRPr lang="en-US" sz="2000"/>
          </a:p>
          <a:p>
            <a:r>
              <a:rPr lang="en-US" sz="2000"/>
              <a:t>generation, and admin monitoring in one integrated system.</a:t>
            </a:r>
            <a:endParaRPr lang="en-US" sz="2000"/>
          </a:p>
          <a:p>
            <a:r>
              <a:rPr lang="en-US" sz="2000"/>
              <a:t>It meets the academic goals of full-stack development, database design, file</a:t>
            </a:r>
            <a:endParaRPr lang="en-US" sz="2000"/>
          </a:p>
          <a:p>
            <a:r>
              <a:rPr lang="en-US" sz="2000"/>
              <a:t>handling, layered architecture, and user-centered output.</a:t>
            </a:r>
            <a:endParaRPr lang="en-US" sz="2000"/>
          </a:p>
          <a:p>
            <a:r>
              <a:rPr lang="en-US" sz="2000"/>
              <a:t>The current system is strong for project demonstration and can be extended</a:t>
            </a:r>
            <a:endParaRPr lang="en-US" sz="2000"/>
          </a:p>
          <a:p>
            <a:r>
              <a:rPr lang="en-US" sz="2000"/>
              <a:t>further for production-scale use.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References</a:t>
            </a:r>
            <a:endParaRPr lang="en-US" sz="2800"/>
          </a:p>
        </p:txBody>
      </p:sp>
      <p:sp>
        <p:nvSpPr>
          <p:cNvPr id="3" name="Body 23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Spring Boot Reference Documentation</a:t>
            </a:r>
            <a:endParaRPr lang="en-US" sz="2000"/>
          </a:p>
          <a:p>
            <a:r>
              <a:rPr lang="en-US" sz="2000"/>
              <a:t>Thymeleaf Documentation</a:t>
            </a:r>
            <a:endParaRPr lang="en-US" sz="2000"/>
          </a:p>
          <a:p>
            <a:r>
              <a:rPr lang="en-US" sz="2000"/>
              <a:t>Spring Data JPA Documentation</a:t>
            </a:r>
            <a:endParaRPr lang="en-US" sz="2000"/>
          </a:p>
          <a:p>
            <a:r>
              <a:rPr lang="en-US" sz="2000"/>
              <a:t>MySQL Documentation</a:t>
            </a:r>
            <a:endParaRPr lang="en-US" sz="2000"/>
          </a:p>
          <a:p>
            <a:r>
              <a:rPr lang="en-US" sz="2000"/>
              <a:t>Apache Tika Documentation</a:t>
            </a:r>
            <a:endParaRPr lang="en-US" sz="2000"/>
          </a:p>
          <a:p>
            <a:r>
              <a:rPr lang="en-US" sz="2000"/>
              <a:t>iText PDF Documentation</a:t>
            </a:r>
            <a:endParaRPr lang="en-US" sz="2000"/>
          </a:p>
          <a:p>
            <a:r>
              <a:rPr lang="en-US" sz="2000"/>
              <a:t>Project source code and templates from ResumeAnalyzerPro_Final</a:t>
            </a:r>
            <a:endParaRPr 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4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/>
              <a:t>Q and A</a:t>
            </a:r>
            <a:endParaRPr lang="en-US" sz="2800"/>
          </a:p>
        </p:txBody>
      </p:sp>
      <p:sp>
        <p:nvSpPr>
          <p:cNvPr id="3" name="Body 24"/>
          <p:cNvSpPr txBox="1"/>
          <p:nvPr/>
        </p:nvSpPr>
        <p:spPr>
          <a:xfrm>
            <a:off x="685800" y="13716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/>
              <a:t>Thank You</a:t>
            </a:r>
            <a:endParaRPr lang="en-US" sz="2000"/>
          </a:p>
          <a:p>
            <a:r>
              <a:rPr lang="en-US" sz="2000"/>
              <a:t>Any Questions?</a:t>
            </a:r>
            <a:endParaRPr lang="en-US" sz="2000"/>
          </a:p>
          <a:p>
            <a:r>
              <a:rPr lang="en-US" sz="2000"/>
              <a:t>Project: Resume Analyzer Pro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 Analyzer Theme">
  <a:themeElements>
    <a:clrScheme name="ResumeAnalyzer">
      <a:dk1>
        <a:srgbClr val="1F2937"/>
      </a:dk1>
      <a:lt1>
        <a:srgbClr val="FFFFFF"/>
      </a:lt1>
      <a:dk2>
        <a:srgbClr val="0F172A"/>
      </a:dk2>
      <a:lt2>
        <a:srgbClr val="F8FAFC"/>
      </a:lt2>
      <a:accent1>
        <a:srgbClr val="0F766E"/>
      </a:accent1>
      <a:accent2>
        <a:srgbClr val="2563EB"/>
      </a:accent2>
      <a:accent3>
        <a:srgbClr val="EA580C"/>
      </a:accent3>
      <a:accent4>
        <a:srgbClr val="16A34A"/>
      </a:accent4>
      <a:accent5>
        <a:srgbClr val="9333EA"/>
      </a:accent5>
      <a:accent6>
        <a:srgbClr val="DC2626"/>
      </a:accent6>
      <a:hlink>
        <a:srgbClr val="2563EB"/>
      </a:hlink>
      <a:folHlink>
        <a:srgbClr val="7C3AED"/>
      </a:folHlink>
    </a:clrScheme>
    <a:fontScheme name="ResumeAnalyzer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ResumeAnalyzer Format">
      <a:fillStyleLst>
        <a:solidFill>
          <a:schemeClr val="lt1"/>
        </a:solidFill>
        <a:gradFill rotWithShape="1">
          <a:gsLst>
            <a:gs pos="0">
              <a:schemeClr val="lt1"/>
            </a:gs>
            <a:gs pos="100000">
              <a:schemeClr val="lt2"/>
            </a:gs>
          </a:gsLst>
          <a:lin ang="5400000" scaled="0"/>
        </a:gra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24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Resume Analyzer Pro Major Project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Analyzer Pro Major Project Presentation</dc:title>
  <dc:subject>Major project PPT for Resume Analyzer Pro</dc:subject>
  <dc:creator>Codex</dc:creator>
  <cp:lastModifiedBy>Codex</cp:lastModifiedBy>
  <dcterms:created xsi:type="dcterms:W3CDTF">2026-04-19T12:08:02Z</dcterms:created>
  <dcterms:modified xsi:type="dcterms:W3CDTF">2026-04-19T12:08:02Z</dcterms:modified>
</cp:coreProperties>
</file>