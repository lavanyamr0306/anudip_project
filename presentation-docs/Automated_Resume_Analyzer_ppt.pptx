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2" r:id="rId1"/>
  </p:sldMasterIdLst>
  <p:sldIdLst>
    <p:sldId id="256" r:id="rId2"/>
    <p:sldId id="257" r:id="rId3"/>
    <p:sldId id="258" r:id="rId4"/>
    <p:sldId id="259" r:id="rId5"/>
    <p:sldId id="260" r:id="rId6"/>
    <p:sldId id="274" r:id="rId7"/>
    <p:sldId id="261" r:id="rId8"/>
    <p:sldId id="262" r:id="rId9"/>
    <p:sldId id="263" r:id="rId10"/>
    <p:sldId id="264" r:id="rId11"/>
    <p:sldId id="265" r:id="rId12"/>
    <p:sldId id="266" r:id="rId13"/>
    <p:sldId id="267" r:id="rId14"/>
    <p:sldId id="268" r:id="rId15"/>
    <p:sldId id="275" r:id="rId16"/>
    <p:sldId id="269" r:id="rId17"/>
    <p:sldId id="270" r:id="rId18"/>
    <p:sldId id="271" r:id="rId19"/>
    <p:sldId id="272" r:id="rId20"/>
    <p:sldId id="276" r:id="rId21"/>
    <p:sldId id="273"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12" autoAdjust="0"/>
    <p:restoredTop sz="94660"/>
  </p:normalViewPr>
  <p:slideViewPr>
    <p:cSldViewPr snapToGrid="0" snapToObjects="1">
      <p:cViewPr varScale="1">
        <p:scale>
          <a:sx n="65" d="100"/>
          <a:sy n="65" d="100"/>
        </p:scale>
        <p:origin x="148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886200" y="1267731"/>
            <a:ext cx="1371600" cy="548640"/>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2091263"/>
            <a:ext cx="6801440" cy="2590800"/>
          </a:xfrm>
        </p:spPr>
        <p:txBody>
          <a:bodyPr tIns="45720" bIns="45720" anchor="ctr">
            <a:noAutofit/>
          </a:bodyPr>
          <a:lstStyle>
            <a:lvl1pPr algn="ctr">
              <a:lnSpc>
                <a:spcPct val="83000"/>
              </a:lnSpc>
              <a:defRPr lang="en-US" sz="6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171575" y="4682062"/>
            <a:ext cx="6803136" cy="502920"/>
          </a:xfrm>
        </p:spPr>
        <p:txBody>
          <a:bodyPr>
            <a:normAutofit/>
          </a:bodyPr>
          <a:lstStyle>
            <a:lvl1pPr marL="0" indent="0" algn="ctr">
              <a:spcBef>
                <a:spcPts val="0"/>
              </a:spcBef>
              <a:buNone/>
              <a:defRPr sz="1400" spc="80" baseline="0">
                <a:solidFill>
                  <a:schemeClr val="tx1"/>
                </a:solidFill>
              </a:defRPr>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en-US"/>
              <a:t>Click to edit Master subtitle style</a:t>
            </a:r>
            <a:endParaRPr lang="en-US" dirty="0"/>
          </a:p>
        </p:txBody>
      </p:sp>
      <p:sp>
        <p:nvSpPr>
          <p:cNvPr id="20" name="Date Placeholder 19"/>
          <p:cNvSpPr>
            <a:spLocks noGrp="1"/>
          </p:cNvSpPr>
          <p:nvPr>
            <p:ph type="dt" sz="half" idx="10"/>
          </p:nvPr>
        </p:nvSpPr>
        <p:spPr>
          <a:xfrm>
            <a:off x="3931920" y="1327188"/>
            <a:ext cx="1280160" cy="457200"/>
          </a:xfrm>
        </p:spPr>
        <p:txBody>
          <a:bodyPr/>
          <a:lstStyle>
            <a:lvl1pPr algn="ctr">
              <a:defRPr sz="1100" spc="0" baseline="0">
                <a:solidFill>
                  <a:schemeClr val="tx1"/>
                </a:solidFill>
                <a:latin typeface="+mn-lt"/>
              </a:defRPr>
            </a:lvl1pPr>
          </a:lstStyle>
          <a:p>
            <a:fld id="{5BCAD085-E8A6-8845-BD4E-CB4CCA059FC4}" type="datetimeFigureOut">
              <a:rPr lang="en-US" smtClean="0"/>
              <a:pPr/>
              <a:t>4/20/2026</a:t>
            </a:fld>
            <a:endParaRPr lang="en-US"/>
          </a:p>
        </p:txBody>
      </p:sp>
      <p:sp>
        <p:nvSpPr>
          <p:cNvPr id="21" name="Footer Placeholder 20"/>
          <p:cNvSpPr>
            <a:spLocks noGrp="1"/>
          </p:cNvSpPr>
          <p:nvPr>
            <p:ph type="ftr" sz="quarter" idx="11"/>
          </p:nvPr>
        </p:nvSpPr>
        <p:spPr>
          <a:xfrm>
            <a:off x="1104936" y="5211060"/>
            <a:ext cx="4429125" cy="228600"/>
          </a:xfrm>
        </p:spPr>
        <p:txBody>
          <a:bodyPr/>
          <a:lstStyle>
            <a:lvl1pPr algn="l">
              <a:defRPr sz="900">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6455190" y="5212080"/>
            <a:ext cx="1583911" cy="228600"/>
          </a:xfrm>
        </p:spPr>
        <p:txBody>
          <a:bodyPr/>
          <a:lstStyle>
            <a:lvl1pPr>
              <a:defRPr>
                <a:solidFill>
                  <a:schemeClr val="tx1">
                    <a:lumMod val="75000"/>
                    <a:lumOff val="2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75600129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80692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9144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886200" y="1267731"/>
            <a:ext cx="1371600" cy="548640"/>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2094309"/>
            <a:ext cx="6803136" cy="2587752"/>
          </a:xfrm>
        </p:spPr>
        <p:txBody>
          <a:bodyPr anchor="ctr">
            <a:noAutofit/>
          </a:bodyPr>
          <a:lstStyle>
            <a:lvl1pPr algn="ctr">
              <a:lnSpc>
                <a:spcPct val="83000"/>
              </a:lnSpc>
              <a:defRPr lang="en-US" sz="6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172718" y="4682062"/>
            <a:ext cx="6803136" cy="502920"/>
          </a:xfrm>
        </p:spPr>
        <p:txBody>
          <a:bodyPr anchor="t">
            <a:normAutofit/>
          </a:bodyPr>
          <a:lstStyle>
            <a:lvl1pPr marL="0" indent="0" algn="ctr">
              <a:buNone/>
              <a:defRPr sz="1400">
                <a:solidFill>
                  <a:schemeClr val="tx1"/>
                </a:solidFill>
                <a:effectLst/>
              </a:defRPr>
            </a:lvl1pPr>
            <a:lvl2pPr marL="457200" indent="0">
              <a:buNone/>
              <a:defRPr sz="1400">
                <a:solidFill>
                  <a:schemeClr val="tx1">
                    <a:tint val="75000"/>
                  </a:schemeClr>
                </a:solidFill>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931920" y="1325880"/>
            <a:ext cx="1280160" cy="457200"/>
          </a:xfrm>
        </p:spPr>
        <p:txBody>
          <a:bodyPr/>
          <a:lstStyle>
            <a:lvl1pPr algn="ctr">
              <a:defRPr lang="en-US" sz="1100" kern="1200" spc="0" baseline="0">
                <a:solidFill>
                  <a:schemeClr val="tx1"/>
                </a:solidFill>
                <a:latin typeface="+mn-lt"/>
                <a:ea typeface="+mn-ea"/>
                <a:cs typeface="+mn-cs"/>
              </a:defRPr>
            </a:lvl1pPr>
          </a:lstStyle>
          <a:p>
            <a:fld id="{5BCAD085-E8A6-8845-BD4E-CB4CCA059FC4}" type="datetimeFigureOut">
              <a:rPr lang="en-US" smtClean="0"/>
              <a:pPr/>
              <a:t>4/20/2026</a:t>
            </a:fld>
            <a:endParaRPr lang="en-US"/>
          </a:p>
        </p:txBody>
      </p:sp>
      <p:sp>
        <p:nvSpPr>
          <p:cNvPr id="5" name="Footer Placeholder 4"/>
          <p:cNvSpPr>
            <a:spLocks noGrp="1"/>
          </p:cNvSpPr>
          <p:nvPr>
            <p:ph type="ftr" sz="quarter" idx="11"/>
          </p:nvPr>
        </p:nvSpPr>
        <p:spPr>
          <a:xfrm>
            <a:off x="1104679" y="5211060"/>
            <a:ext cx="4430268"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6453378" y="5211060"/>
            <a:ext cx="1584198" cy="228600"/>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28751019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3152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488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863921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731520" y="2074334"/>
            <a:ext cx="365760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31520" y="2755898"/>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2074334"/>
            <a:ext cx="365760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756581"/>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687770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58307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257084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184147" y="173736"/>
            <a:ext cx="6398514" cy="65105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7392"/>
            <a:ext cx="1823085" cy="1645920"/>
          </a:xfrm>
        </p:spPr>
        <p:txBody>
          <a:bodyPr anchor="b">
            <a:normAutofit/>
          </a:bodyPr>
          <a:lstStyle>
            <a:lvl1pPr algn="l" defTabSz="914400" rtl="0" eaLnBrk="1" latinLnBrk="0" hangingPunct="1">
              <a:lnSpc>
                <a:spcPct val="90000"/>
              </a:lnSpc>
              <a:spcBef>
                <a:spcPct val="0"/>
              </a:spcBef>
              <a:buNone/>
              <a:defRPr lang="en-US" sz="24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68976" y="907143"/>
            <a:ext cx="5428856" cy="5043714"/>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72300" y="2286000"/>
            <a:ext cx="1823085" cy="3505200"/>
          </a:xfrm>
        </p:spPr>
        <p:txBody>
          <a:bodyPr>
            <a:normAutofit/>
          </a:bodyPr>
          <a:lstStyle>
            <a:lvl1pPr marL="0" indent="0">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BCAD085-E8A6-8845-BD4E-CB4CCA059FC4}" type="datetimeFigureOut">
              <a:rPr lang="en-US" smtClean="0"/>
              <a:pPr/>
              <a:t>4/20/2026</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7795258" y="6310086"/>
            <a:ext cx="1097280" cy="274320"/>
          </a:xfrm>
        </p:spPr>
        <p:txBody>
          <a:bodyPr/>
          <a:lstStyle>
            <a:lvl1pPr>
              <a:defRPr>
                <a:solidFill>
                  <a:srgbClr val="FFFFFF"/>
                </a:solidFill>
              </a:defRPr>
            </a:lvl1pPr>
          </a:lstStyle>
          <a:p>
            <a:fld id="{C1FF6DA9-008F-8B48-92A6-B652298478BF}" type="slidenum">
              <a:rPr lang="en-US" smtClean="0"/>
              <a:pPr/>
              <a:t>‹#›</a:t>
            </a:fld>
            <a:endParaRPr lang="en-US"/>
          </a:p>
        </p:txBody>
      </p:sp>
      <p:sp>
        <p:nvSpPr>
          <p:cNvPr id="12" name="Rectangle 11"/>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50268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3504"/>
            <a:ext cx="1824228" cy="1645920"/>
          </a:xfrm>
        </p:spPr>
        <p:txBody>
          <a:bodyPr anchor="b">
            <a:noAutofit/>
          </a:bodyPr>
          <a:lstStyle>
            <a:lvl1pPr algn="l">
              <a:defRPr sz="24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449" y="173736"/>
            <a:ext cx="6398514" cy="6510528"/>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972300" y="2286000"/>
            <a:ext cx="1824228" cy="3502152"/>
          </a:xfrm>
        </p:spPr>
        <p:txBody>
          <a:bodyPr>
            <a:normAutofit/>
          </a:bodyPr>
          <a:lstStyle>
            <a:lvl1pPr marL="0" indent="0" algn="l">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5BCAD085-E8A6-8845-BD4E-CB4CCA059FC4}" type="datetimeFigureOut">
              <a:rPr lang="en-US" smtClean="0"/>
              <a:pPr/>
              <a:t>4/20/2026</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9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7797546" y="6309360"/>
            <a:ext cx="1097280" cy="274320"/>
          </a:xfrm>
        </p:spPr>
        <p:txBody>
          <a:bodyPr/>
          <a:lstStyle>
            <a:lvl1pPr>
              <a:defRPr>
                <a:solidFill>
                  <a:srgbClr val="FFFFFF"/>
                </a:solidFill>
              </a:defRPr>
            </a:lvl1pPr>
          </a:lstStyle>
          <a:p>
            <a:fld id="{C1FF6DA9-008F-8B48-92A6-B652298478BF}" type="slidenum">
              <a:rPr lang="en-US" smtClean="0"/>
              <a:pPr/>
              <a:t>‹#›</a:t>
            </a:fld>
            <a:endParaRPr lang="en-US"/>
          </a:p>
        </p:txBody>
      </p:sp>
      <p:sp>
        <p:nvSpPr>
          <p:cNvPr id="11" name="Rectangle 10"/>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21091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084646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762000"/>
            <a:ext cx="60579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022904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6022" y="173736"/>
            <a:ext cx="8791956" cy="6510528"/>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731520" y="642594"/>
            <a:ext cx="768096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31520" y="2103120"/>
            <a:ext cx="768096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34768" y="6309360"/>
            <a:ext cx="2057400" cy="274320"/>
          </a:xfrm>
          <a:prstGeom prst="rect">
            <a:avLst/>
          </a:prstGeom>
        </p:spPr>
        <p:txBody>
          <a:bodyPr vert="horz" lIns="91440" tIns="45720" rIns="91440" bIns="45720" rtlCol="0" anchor="b"/>
          <a:lstStyle>
            <a:lvl1pPr algn="l">
              <a:defRPr sz="900">
                <a:solidFill>
                  <a:schemeClr val="tx1">
                    <a:lumMod val="75000"/>
                    <a:lumOff val="25000"/>
                  </a:schemeClr>
                </a:solidFill>
              </a:defRPr>
            </a:lvl1pPr>
          </a:lstStyle>
          <a:p>
            <a:fld id="{5BCAD085-E8A6-8845-BD4E-CB4CCA059FC4}" type="datetimeFigureOut">
              <a:rPr lang="en-US" smtClean="0"/>
              <a:pPr/>
              <a:t>4/20/2026</a:t>
            </a:fld>
            <a:endParaRPr lang="en-US"/>
          </a:p>
        </p:txBody>
      </p:sp>
      <p:sp>
        <p:nvSpPr>
          <p:cNvPr id="5" name="Footer Placeholder 4"/>
          <p:cNvSpPr>
            <a:spLocks noGrp="1"/>
          </p:cNvSpPr>
          <p:nvPr>
            <p:ph type="ftr" sz="quarter" idx="3"/>
          </p:nvPr>
        </p:nvSpPr>
        <p:spPr>
          <a:xfrm>
            <a:off x="2596896" y="6309360"/>
            <a:ext cx="3950208" cy="274320"/>
          </a:xfrm>
          <a:prstGeom prst="rect">
            <a:avLst/>
          </a:prstGeom>
        </p:spPr>
        <p:txBody>
          <a:bodyPr vert="horz" lIns="91440" tIns="45720" rIns="91440" bIns="45720" rtlCol="0" anchor="b"/>
          <a:lstStyle>
            <a:lvl1pPr algn="ctr">
              <a:defRPr sz="9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823382" y="6309360"/>
            <a:ext cx="1097280" cy="274320"/>
          </a:xfrm>
          <a:prstGeom prst="rect">
            <a:avLst/>
          </a:prstGeom>
        </p:spPr>
        <p:txBody>
          <a:bodyPr vert="horz" lIns="91440" tIns="45720" rIns="91440" bIns="45720" rtlCol="0" anchor="b"/>
          <a:lstStyle>
            <a:lvl1pPr algn="r">
              <a:defRPr sz="900">
                <a:solidFill>
                  <a:schemeClr val="tx1">
                    <a:lumMod val="75000"/>
                    <a:lumOff val="2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335874897"/>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mysql.com/" TargetMode="External"/><Relationship Id="rId2" Type="http://schemas.openxmlformats.org/officeDocument/2006/relationships/hyperlink" Target="https://spring.io/" TargetMode="External"/><Relationship Id="rId1" Type="http://schemas.openxmlformats.org/officeDocument/2006/relationships/slideLayout" Target="../slideLayouts/slideLayout2.xml"/><Relationship Id="rId4" Type="http://schemas.openxmlformats.org/officeDocument/2006/relationships/hyperlink" Target="https://tika.apache.org/"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261872"/>
          </a:xfrm>
        </p:spPr>
        <p:txBody>
          <a:bodyPr>
            <a:noAutofit/>
          </a:bodyPr>
          <a:lstStyle/>
          <a:p>
            <a:br>
              <a:rPr lang="en-US" sz="1800" dirty="0"/>
            </a:br>
            <a:r>
              <a:rPr lang="en-US" sz="1800" dirty="0"/>
              <a:t>      </a:t>
            </a:r>
            <a:r>
              <a:rPr lang="en-US" sz="2400" dirty="0">
                <a:latin typeface="Times New Roman" pitchFamily="18" charset="0"/>
                <a:cs typeface="Times New Roman" pitchFamily="18" charset="0"/>
              </a:rPr>
              <a:t>SAI VIDYA INSTITUTE OF TECHNOLOGY             </a:t>
            </a:r>
            <a:br>
              <a:rPr lang="en-US" sz="1800" dirty="0"/>
            </a:br>
            <a:br>
              <a:rPr lang="en-US" sz="1800" dirty="0"/>
            </a:br>
            <a:r>
              <a:rPr lang="en-US" sz="1800" dirty="0"/>
              <a:t>			</a:t>
            </a:r>
            <a:r>
              <a:rPr lang="en-US" sz="2400" dirty="0">
                <a:solidFill>
                  <a:schemeClr val="bg2">
                    <a:lumMod val="50000"/>
                  </a:schemeClr>
                </a:solidFill>
                <a:latin typeface="Times New Roman" pitchFamily="18" charset="0"/>
                <a:cs typeface="Times New Roman" pitchFamily="18" charset="0"/>
              </a:rPr>
              <a:t>PROJECT TITLE</a:t>
            </a:r>
            <a:br>
              <a:rPr lang="en-US" sz="2400" dirty="0">
                <a:latin typeface="Times New Roman" pitchFamily="18" charset="0"/>
                <a:cs typeface="Times New Roman" pitchFamily="18" charset="0"/>
              </a:rPr>
            </a:br>
            <a:r>
              <a:rPr lang="en-US" sz="2400" b="0" dirty="0">
                <a:latin typeface="Times New Roman" pitchFamily="18" charset="0"/>
                <a:cs typeface="Times New Roman" pitchFamily="18" charset="0"/>
              </a:rPr>
              <a:t>                  </a:t>
            </a:r>
            <a:r>
              <a:rPr lang="en-IN" sz="2400" b="0" dirty="0">
                <a:solidFill>
                  <a:srgbClr val="00B050"/>
                </a:solidFill>
                <a:latin typeface="Times New Roman" pitchFamily="18" charset="0"/>
                <a:cs typeface="Times New Roman" pitchFamily="18" charset="0"/>
              </a:rPr>
              <a:t>AUTOMATED RESUME ANALYZER</a:t>
            </a:r>
            <a:endParaRPr sz="2400" b="0" dirty="0">
              <a:solidFill>
                <a:srgbClr val="00B05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2496312"/>
            <a:ext cx="8229600" cy="3776471"/>
          </a:xfrm>
        </p:spPr>
        <p:txBody>
          <a:bodyPr>
            <a:normAutofit fontScale="92500" lnSpcReduction="20000"/>
          </a:bodyPr>
          <a:lstStyle/>
          <a:p>
            <a:pPr>
              <a:buNone/>
            </a:pPr>
            <a:r>
              <a:rPr lang="en-US" sz="1800" dirty="0">
                <a:latin typeface="Times New Roman" pitchFamily="18" charset="0"/>
                <a:cs typeface="Times New Roman" pitchFamily="18" charset="0"/>
              </a:rPr>
              <a:t>                                            </a:t>
            </a:r>
            <a:r>
              <a:rPr lang="en-US" dirty="0">
                <a:latin typeface="Times New Roman" pitchFamily="18" charset="0"/>
                <a:cs typeface="Times New Roman" pitchFamily="18" charset="0"/>
              </a:rPr>
              <a:t>Deeksha M</a:t>
            </a:r>
            <a:r>
              <a:rPr lang="en-US" sz="1800" dirty="0">
                <a:latin typeface="Times New Roman" pitchFamily="18" charset="0"/>
                <a:cs typeface="Times New Roman" pitchFamily="18" charset="0"/>
              </a:rPr>
              <a:t> (CSE) – 1VA22CS026</a:t>
            </a:r>
          </a:p>
          <a:p>
            <a:pPr>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Hithashree</a:t>
            </a:r>
            <a:r>
              <a:rPr lang="en-US" sz="1800" dirty="0">
                <a:latin typeface="Times New Roman" pitchFamily="18" charset="0"/>
                <a:cs typeface="Times New Roman" pitchFamily="18" charset="0"/>
              </a:rPr>
              <a:t> R (</a:t>
            </a:r>
            <a:r>
              <a:rPr lang="en-US" dirty="0">
                <a:latin typeface="Times New Roman" pitchFamily="18" charset="0"/>
                <a:cs typeface="Times New Roman" pitchFamily="18" charset="0"/>
              </a:rPr>
              <a:t>ISE</a:t>
            </a:r>
            <a:r>
              <a:rPr lang="en-US" sz="1800" dirty="0">
                <a:latin typeface="Times New Roman" pitchFamily="18" charset="0"/>
                <a:cs typeface="Times New Roman" pitchFamily="18" charset="0"/>
              </a:rPr>
              <a:t>) – 1VA22IS037</a:t>
            </a:r>
          </a:p>
          <a:p>
            <a:pPr>
              <a:buNone/>
            </a:pPr>
            <a:r>
              <a:rPr lang="en-US" sz="1800" dirty="0">
                <a:latin typeface="Times New Roman" pitchFamily="18" charset="0"/>
                <a:cs typeface="Times New Roman" pitchFamily="18" charset="0"/>
              </a:rPr>
              <a:t>                                            </a:t>
            </a:r>
            <a:r>
              <a:rPr lang="en-US" dirty="0">
                <a:latin typeface="Times New Roman" pitchFamily="18" charset="0"/>
                <a:cs typeface="Times New Roman" pitchFamily="18" charset="0"/>
              </a:rPr>
              <a:t>Lavanya M R</a:t>
            </a:r>
            <a:r>
              <a:rPr lang="en-US" sz="1800" dirty="0">
                <a:latin typeface="Times New Roman" pitchFamily="18" charset="0"/>
                <a:cs typeface="Times New Roman" pitchFamily="18" charset="0"/>
              </a:rPr>
              <a:t> (CSE) – 1VA22CS060</a:t>
            </a:r>
          </a:p>
          <a:p>
            <a:pPr>
              <a:buNone/>
            </a:pPr>
            <a:r>
              <a:rPr lang="en-US" sz="1800" dirty="0">
                <a:latin typeface="Times New Roman" pitchFamily="18" charset="0"/>
                <a:cs typeface="Times New Roman" pitchFamily="18" charset="0"/>
              </a:rPr>
              <a:t>                                            </a:t>
            </a:r>
            <a:r>
              <a:rPr lang="en-US" dirty="0">
                <a:latin typeface="Times New Roman" pitchFamily="18" charset="0"/>
                <a:cs typeface="Times New Roman" pitchFamily="18" charset="0"/>
              </a:rPr>
              <a:t>Rakshitha N</a:t>
            </a:r>
            <a:r>
              <a:rPr lang="en-US" sz="1800" dirty="0">
                <a:latin typeface="Times New Roman" pitchFamily="18" charset="0"/>
                <a:cs typeface="Times New Roman" pitchFamily="18" charset="0"/>
              </a:rPr>
              <a:t> (CSE) – 1VA22CS097</a:t>
            </a:r>
          </a:p>
          <a:p>
            <a:pPr>
              <a:buNone/>
            </a:pPr>
            <a:endParaRPr lang="en-US" sz="18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                                        </a:t>
            </a:r>
            <a:r>
              <a:rPr lang="en-US" sz="1800" dirty="0">
                <a:latin typeface="Times New Roman" pitchFamily="18" charset="0"/>
                <a:cs typeface="Times New Roman" pitchFamily="18" charset="0"/>
              </a:rPr>
              <a:t>Guide: Rajesh Kumar</a:t>
            </a:r>
          </a:p>
          <a:p>
            <a:pPr>
              <a:buNone/>
            </a:pPr>
            <a:r>
              <a:rPr lang="en-US" sz="1800" dirty="0">
                <a:latin typeface="Times New Roman" pitchFamily="18" charset="0"/>
                <a:cs typeface="Times New Roman" pitchFamily="18" charset="0"/>
              </a:rPr>
              <a:t>                                             Date: 20/04/2026</a:t>
            </a:r>
          </a:p>
          <a:p>
            <a:pPr>
              <a:buNone/>
            </a:pPr>
            <a:endParaRPr lang="en-US" sz="20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a:p>
            <a:pPr>
              <a:buNone/>
            </a:pPr>
            <a:r>
              <a:rPr lang="en-US" sz="1800" dirty="0">
                <a:latin typeface="Times New Roman" pitchFamily="18" charset="0"/>
                <a:cs typeface="Times New Roman" pitchFamily="18" charset="0"/>
              </a:rPr>
              <a:t>                                                                                   </a:t>
            </a:r>
          </a:p>
          <a:p>
            <a:endParaRPr dirty="0"/>
          </a:p>
        </p:txBody>
      </p:sp>
      <p:pic>
        <p:nvPicPr>
          <p:cNvPr id="1026" name="Picture 2"/>
          <p:cNvPicPr>
            <a:picLocks noChangeAspect="1" noChangeArrowheads="1"/>
          </p:cNvPicPr>
          <p:nvPr/>
        </p:nvPicPr>
        <p:blipFill>
          <a:blip r:embed="rId2"/>
          <a:srcRect/>
          <a:stretch>
            <a:fillRect/>
          </a:stretch>
        </p:blipFill>
        <p:spPr bwMode="auto">
          <a:xfrm>
            <a:off x="7083171" y="206883"/>
            <a:ext cx="1085850" cy="1085850"/>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41248"/>
          </a:xfrm>
        </p:spPr>
        <p:txBody>
          <a:bodyPr>
            <a:normAutofit/>
          </a:bodyPr>
          <a:lstStyle/>
          <a:p>
            <a:r>
              <a:rPr lang="en-US" sz="3600" dirty="0">
                <a:latin typeface="Times New Roman" pitchFamily="18" charset="0"/>
                <a:cs typeface="Times New Roman" pitchFamily="18" charset="0"/>
              </a:rPr>
              <a:t>INTRODUCTION</a:t>
            </a:r>
            <a:endParaRPr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21454"/>
            <a:ext cx="8288594" cy="5216506"/>
          </a:xfrm>
        </p:spPr>
        <p:txBody>
          <a:bodyPr>
            <a:noAutofit/>
          </a:bodyPr>
          <a:lstStyle/>
          <a:p>
            <a:pPr marL="0" indent="0" algn="just">
              <a:lnSpc>
                <a:spcPct val="125000"/>
              </a:lnSpc>
              <a:buNone/>
            </a:pPr>
            <a:r>
              <a:rPr lang="en-US" sz="2000" dirty="0">
                <a:latin typeface="Times New Roman" pitchFamily="18" charset="0"/>
                <a:cs typeface="Times New Roman" pitchFamily="18" charset="0"/>
              </a:rPr>
              <a:t>The Resume Analyzer System is a web-based application designed to analyze resumes by comparing them with a given job description. It evaluates the content of a resume, calculates a match score, and identifies both matched and missing skills to help users improve their chances of selection. In today’s competitive job market, many candidates face rejection due to poorly structured resumes and lack of alignment with job requirements. This makes resume optimization an important factor in the hiring process. The system is inspired by real-world Applicant Tracking Systems (ATS) used by companies, making it highly relevant as it helps job seekers enhance their resumes and enables faster, more efficient candidate evaluation.</a:t>
            </a:r>
          </a:p>
          <a:p>
            <a:pPr algn="just"/>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565" y="112973"/>
            <a:ext cx="7680960" cy="1163801"/>
          </a:xfrm>
        </p:spPr>
        <p:txBody>
          <a:bodyPr>
            <a:normAutofit/>
          </a:bodyPr>
          <a:lstStyle/>
          <a:p>
            <a:r>
              <a:rPr lang="en-US" sz="3600" dirty="0"/>
              <a:t>PROBLEM STATEMENT</a:t>
            </a:r>
            <a:endParaRPr sz="3600" dirty="0"/>
          </a:p>
        </p:txBody>
      </p:sp>
      <p:sp>
        <p:nvSpPr>
          <p:cNvPr id="3" name="Content Placeholder 2"/>
          <p:cNvSpPr>
            <a:spLocks noGrp="1"/>
          </p:cNvSpPr>
          <p:nvPr>
            <p:ph idx="1"/>
          </p:nvPr>
        </p:nvSpPr>
        <p:spPr>
          <a:xfrm>
            <a:off x="318565" y="1139832"/>
            <a:ext cx="8229600" cy="4435058"/>
          </a:xfrm>
        </p:spPr>
        <p:txBody>
          <a:bodyPr>
            <a:normAutofit fontScale="77500" lnSpcReduction="20000"/>
          </a:bodyPr>
          <a:lstStyle/>
          <a:p>
            <a:pPr>
              <a:buNone/>
            </a:pPr>
            <a:endParaRPr dirty="0">
              <a:latin typeface="Times New Roman" pitchFamily="18" charset="0"/>
              <a:cs typeface="Times New Roman" pitchFamily="18" charset="0"/>
            </a:endParaRPr>
          </a:p>
          <a:p>
            <a:pPr marL="0" indent="0" algn="just">
              <a:lnSpc>
                <a:spcPct val="145000"/>
              </a:lnSpc>
              <a:buNone/>
            </a:pPr>
            <a:r>
              <a:rPr lang="en-US" sz="2600" dirty="0">
                <a:latin typeface="Times New Roman" pitchFamily="18" charset="0"/>
                <a:cs typeface="Times New Roman" pitchFamily="18" charset="0"/>
              </a:rPr>
              <a:t>In the current job application process, many candidates face rejection because their resumes do not match the keywords and structure expected by job descriptions. Since most companies use keyword-based filtering systems, applicants often do not know whether their resumes meet these requirements or what improvements are needed. This problem mainly affects job seekers, making it difficult for them to improve their resumes and choose the right opportunities. The proposed system addresses these issues by analyzing resumes, providing match scores, identifying skill gaps, and suggesting relevant job roles to improve selection chances.</a:t>
            </a:r>
            <a:endParaRPr sz="26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50392"/>
          </a:xfrm>
        </p:spPr>
        <p:txBody>
          <a:bodyPr>
            <a:normAutofit/>
          </a:bodyPr>
          <a:lstStyle/>
          <a:p>
            <a:r>
              <a:rPr lang="en-US" sz="3600" dirty="0">
                <a:latin typeface="Times New Roman" pitchFamily="18" charset="0"/>
                <a:cs typeface="Times New Roman" pitchFamily="18" charset="0"/>
              </a:rPr>
              <a:t>OBJECTIVES</a:t>
            </a:r>
            <a:endParaRPr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35024"/>
            <a:ext cx="8229600" cy="4708843"/>
          </a:xfrm>
        </p:spPr>
        <p:txBody>
          <a:bodyPr>
            <a:normAutofit/>
          </a:bodyPr>
          <a:lstStyle/>
          <a:p>
            <a:r>
              <a:rPr lang="en-US" sz="2000" dirty="0">
                <a:latin typeface="Times New Roman" pitchFamily="18" charset="0"/>
                <a:cs typeface="Times New Roman" pitchFamily="18" charset="0"/>
              </a:rPr>
              <a:t>To analyze resumes by comparing them with job descriptions.</a:t>
            </a:r>
          </a:p>
          <a:p>
            <a:r>
              <a:rPr lang="en-US" sz="2000" dirty="0">
                <a:latin typeface="Times New Roman" pitchFamily="18" charset="0"/>
                <a:cs typeface="Times New Roman" pitchFamily="18" charset="0"/>
              </a:rPr>
              <a:t>To calculate keyword match, skill match, and completeness scores.</a:t>
            </a:r>
          </a:p>
          <a:p>
            <a:r>
              <a:rPr lang="en-US" sz="2000" dirty="0">
                <a:latin typeface="Times New Roman" pitchFamily="18" charset="0"/>
                <a:cs typeface="Times New Roman" pitchFamily="18" charset="0"/>
              </a:rPr>
              <a:t>To identify matched and missing skills in the resume.</a:t>
            </a:r>
          </a:p>
          <a:p>
            <a:r>
              <a:rPr lang="en-US" sz="2000" dirty="0">
                <a:latin typeface="Times New Roman" pitchFamily="18" charset="0"/>
                <a:cs typeface="Times New Roman" pitchFamily="18" charset="0"/>
              </a:rPr>
              <a:t>To suggest suitable job roles based on the user’s profile.</a:t>
            </a:r>
          </a:p>
          <a:p>
            <a:r>
              <a:rPr lang="en-US" sz="2000" dirty="0">
                <a:latin typeface="Times New Roman" pitchFamily="18" charset="0"/>
                <a:cs typeface="Times New Roman" pitchFamily="18" charset="0"/>
              </a:rPr>
              <a:t>To track resume performance using graphical representation.</a:t>
            </a:r>
          </a:p>
          <a:p>
            <a:r>
              <a:rPr lang="en-US" sz="2000" dirty="0">
                <a:latin typeface="Times New Roman" pitchFamily="18" charset="0"/>
                <a:cs typeface="Times New Roman" pitchFamily="18" charset="0"/>
              </a:rPr>
              <a:t>To provide an admin module for managing users and system data.</a:t>
            </a:r>
            <a:endParaRPr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04672"/>
          </a:xfrm>
        </p:spPr>
        <p:txBody>
          <a:bodyPr>
            <a:normAutofit/>
          </a:bodyPr>
          <a:lstStyle/>
          <a:p>
            <a:r>
              <a:rPr lang="en-US" sz="3600" dirty="0">
                <a:latin typeface="Times New Roman" pitchFamily="18" charset="0"/>
                <a:cs typeface="Times New Roman" pitchFamily="18" charset="0"/>
              </a:rPr>
              <a:t>SCOPE OF THE PROJECT </a:t>
            </a:r>
            <a:endParaRPr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24712"/>
            <a:ext cx="7239000" cy="5102424"/>
          </a:xfrm>
        </p:spPr>
        <p:txBody>
          <a:bodyPr>
            <a:normAutofit fontScale="92500" lnSpcReduction="10000"/>
          </a:bodyPr>
          <a:lstStyle/>
          <a:p>
            <a:r>
              <a:rPr lang="en-US" sz="2800" b="1" dirty="0">
                <a:latin typeface="Times New Roman" pitchFamily="18" charset="0"/>
                <a:cs typeface="Times New Roman" pitchFamily="18" charset="0"/>
              </a:rPr>
              <a:t>Covers:</a:t>
            </a:r>
            <a:endParaRPr lang="en-US" sz="2800" dirty="0">
              <a:latin typeface="Times New Roman" pitchFamily="18" charset="0"/>
              <a:cs typeface="Times New Roman" pitchFamily="18" charset="0"/>
            </a:endParaRPr>
          </a:p>
          <a:p>
            <a:pPr>
              <a:buFont typeface="Arial" pitchFamily="34" charset="0"/>
              <a:buChar char="•"/>
            </a:pPr>
            <a:r>
              <a:rPr lang="en-US" sz="2400" dirty="0">
                <a:latin typeface="Times New Roman" pitchFamily="18" charset="0"/>
                <a:cs typeface="Times New Roman" pitchFamily="18" charset="0"/>
              </a:rPr>
              <a:t>User registration and login</a:t>
            </a:r>
          </a:p>
          <a:p>
            <a:pPr>
              <a:buFont typeface="Arial" pitchFamily="34" charset="0"/>
              <a:buChar char="•"/>
            </a:pPr>
            <a:r>
              <a:rPr lang="en-US" sz="2400" dirty="0">
                <a:latin typeface="Times New Roman" pitchFamily="18" charset="0"/>
                <a:cs typeface="Times New Roman" pitchFamily="18" charset="0"/>
              </a:rPr>
              <a:t>Resume upload and content extraction</a:t>
            </a:r>
          </a:p>
          <a:p>
            <a:pPr>
              <a:buFont typeface="Arial" pitchFamily="34" charset="0"/>
              <a:buChar char="•"/>
            </a:pPr>
            <a:r>
              <a:rPr lang="en-US" sz="2400" dirty="0">
                <a:latin typeface="Times New Roman" pitchFamily="18" charset="0"/>
                <a:cs typeface="Times New Roman" pitchFamily="18" charset="0"/>
              </a:rPr>
              <a:t>Keyword matching with job description</a:t>
            </a:r>
          </a:p>
          <a:p>
            <a:pPr>
              <a:buFont typeface="Arial" pitchFamily="34" charset="0"/>
              <a:buChar char="•"/>
            </a:pPr>
            <a:r>
              <a:rPr lang="en-US" sz="2400" dirty="0">
                <a:latin typeface="Times New Roman" pitchFamily="18" charset="0"/>
                <a:cs typeface="Times New Roman" pitchFamily="18" charset="0"/>
              </a:rPr>
              <a:t>Skill analysis (matched and missing skills)</a:t>
            </a:r>
          </a:p>
          <a:p>
            <a:pPr>
              <a:buFont typeface="Arial" pitchFamily="34" charset="0"/>
              <a:buChar char="•"/>
            </a:pPr>
            <a:r>
              <a:rPr lang="en-US" sz="2400" dirty="0">
                <a:latin typeface="Times New Roman" pitchFamily="18" charset="0"/>
                <a:cs typeface="Times New Roman" pitchFamily="18" charset="0"/>
              </a:rPr>
              <a:t>Resume completeness and score calculation</a:t>
            </a:r>
          </a:p>
          <a:p>
            <a:pPr>
              <a:buFont typeface="Arial" pitchFamily="34" charset="0"/>
              <a:buChar char="•"/>
            </a:pPr>
            <a:r>
              <a:rPr lang="en-US" sz="2400" dirty="0">
                <a:latin typeface="Times New Roman" pitchFamily="18" charset="0"/>
                <a:cs typeface="Times New Roman" pitchFamily="18" charset="0"/>
              </a:rPr>
              <a:t>Job role recommendation based on profile</a:t>
            </a:r>
          </a:p>
          <a:p>
            <a:pPr>
              <a:buFont typeface="Arial" pitchFamily="34" charset="0"/>
              <a:buChar char="•"/>
            </a:pPr>
            <a:r>
              <a:rPr lang="en-US" sz="2400" dirty="0">
                <a:latin typeface="Times New Roman" pitchFamily="18" charset="0"/>
                <a:cs typeface="Times New Roman" pitchFamily="18" charset="0"/>
              </a:rPr>
              <a:t>Performance tracking using graphs</a:t>
            </a:r>
          </a:p>
          <a:p>
            <a:pPr>
              <a:buFont typeface="Arial" pitchFamily="34" charset="0"/>
              <a:buChar char="•"/>
            </a:pPr>
            <a:r>
              <a:rPr lang="en-US" sz="2800" b="1" dirty="0">
                <a:latin typeface="Times New Roman" pitchFamily="18" charset="0"/>
                <a:cs typeface="Times New Roman" pitchFamily="18" charset="0"/>
              </a:rPr>
              <a:t>Does NOT Cover:</a:t>
            </a:r>
            <a:endParaRPr lang="en-US" sz="2800" dirty="0">
              <a:latin typeface="Times New Roman" pitchFamily="18" charset="0"/>
              <a:cs typeface="Times New Roman" pitchFamily="18" charset="0"/>
            </a:endParaRPr>
          </a:p>
          <a:p>
            <a:pPr>
              <a:buFont typeface="Arial" pitchFamily="34" charset="0"/>
              <a:buChar char="•"/>
            </a:pPr>
            <a:r>
              <a:rPr lang="en-US" sz="2400" dirty="0">
                <a:latin typeface="Times New Roman" pitchFamily="18" charset="0"/>
                <a:cs typeface="Times New Roman" pitchFamily="18" charset="0"/>
              </a:rPr>
              <a:t>No advanced AI or machine learning-based analysis</a:t>
            </a:r>
          </a:p>
          <a:p>
            <a:pPr>
              <a:buFont typeface="Arial" pitchFamily="34" charset="0"/>
              <a:buChar char="•"/>
            </a:pPr>
            <a:r>
              <a:rPr lang="en-US" sz="2400" dirty="0">
                <a:latin typeface="Times New Roman" pitchFamily="18" charset="0"/>
                <a:cs typeface="Times New Roman" pitchFamily="18" charset="0"/>
              </a:rPr>
              <a:t>No real-time integration with job portals</a:t>
            </a:r>
          </a:p>
          <a:p>
            <a:pPr>
              <a:buFont typeface="Arial" pitchFamily="34" charset="0"/>
              <a:buChar char="•"/>
            </a:pPr>
            <a:r>
              <a:rPr lang="en-US" sz="2400" dirty="0">
                <a:latin typeface="Times New Roman" pitchFamily="18" charset="0"/>
                <a:cs typeface="Times New Roman" pitchFamily="18" charset="0"/>
              </a:rPr>
              <a:t>No mobile application support</a:t>
            </a:r>
            <a:endParaRPr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20040"/>
            <a:ext cx="7239000" cy="813816"/>
          </a:xfrm>
        </p:spPr>
        <p:txBody>
          <a:bodyPr>
            <a:normAutofit/>
          </a:bodyPr>
          <a:lstStyle/>
          <a:p>
            <a:r>
              <a:rPr lang="en-US" sz="3600" dirty="0">
                <a:latin typeface="Times New Roman" pitchFamily="18" charset="0"/>
                <a:cs typeface="Times New Roman" pitchFamily="18" charset="0"/>
              </a:rPr>
              <a:t>LITERATURE REVIEW</a:t>
            </a:r>
          </a:p>
        </p:txBody>
      </p:sp>
      <p:sp>
        <p:nvSpPr>
          <p:cNvPr id="2" name="Content Placeholder 1"/>
          <p:cNvSpPr>
            <a:spLocks noGrp="1"/>
          </p:cNvSpPr>
          <p:nvPr>
            <p:ph idx="1"/>
          </p:nvPr>
        </p:nvSpPr>
        <p:spPr>
          <a:xfrm>
            <a:off x="457199" y="1463039"/>
            <a:ext cx="8509819" cy="4760779"/>
          </a:xfrm>
        </p:spPr>
        <p:txBody>
          <a:bodyPr>
            <a:normAutofit fontScale="92500" lnSpcReduction="10000"/>
          </a:bodyPr>
          <a:lstStyle/>
          <a:p>
            <a:pPr marL="0" indent="0">
              <a:buNone/>
            </a:pPr>
            <a:r>
              <a:rPr lang="en-US" sz="2400" b="1" dirty="0">
                <a:latin typeface="Times New Roman" pitchFamily="18" charset="0"/>
                <a:cs typeface="Times New Roman" pitchFamily="18" charset="0"/>
              </a:rPr>
              <a:t>Verma et al. (2025):</a:t>
            </a:r>
          </a:p>
          <a:p>
            <a:pPr marL="0" indent="0">
              <a:buNone/>
            </a:pPr>
            <a:r>
              <a:rPr lang="en-US" sz="2400" dirty="0">
                <a:latin typeface="Times New Roman" pitchFamily="18" charset="0"/>
                <a:cs typeface="Times New Roman" pitchFamily="18" charset="0"/>
              </a:rPr>
              <a:t>Proposed a smart resume analyzer using NLP to extract and analyze resume content, improving hiring efficiency.</a:t>
            </a:r>
          </a:p>
          <a:p>
            <a:pPr marL="0" indent="0">
              <a:buNone/>
            </a:pPr>
            <a:endParaRPr lang="en-US" sz="2400" b="1" dirty="0">
              <a:latin typeface="Times New Roman" pitchFamily="18" charset="0"/>
              <a:cs typeface="Times New Roman" pitchFamily="18" charset="0"/>
            </a:endParaRPr>
          </a:p>
          <a:p>
            <a:pPr marL="0" indent="0">
              <a:buNone/>
            </a:pPr>
            <a:r>
              <a:rPr lang="en-US" sz="2400" b="1" dirty="0" err="1">
                <a:latin typeface="Times New Roman" pitchFamily="18" charset="0"/>
                <a:cs typeface="Times New Roman" pitchFamily="18" charset="0"/>
              </a:rPr>
              <a:t>Surwase</a:t>
            </a:r>
            <a:r>
              <a:rPr lang="en-US" sz="2400" b="1" dirty="0">
                <a:latin typeface="Times New Roman" pitchFamily="18" charset="0"/>
                <a:cs typeface="Times New Roman" pitchFamily="18" charset="0"/>
              </a:rPr>
              <a:t> et al. (2025):</a:t>
            </a:r>
          </a:p>
          <a:p>
            <a:pPr marL="0" indent="0">
              <a:buNone/>
            </a:pPr>
            <a:r>
              <a:rPr lang="en-US" sz="2400" dirty="0">
                <a:latin typeface="Times New Roman" pitchFamily="18" charset="0"/>
                <a:cs typeface="Times New Roman" pitchFamily="18" charset="0"/>
              </a:rPr>
              <a:t>Developed an AI-based resume analyzer using NLP and machine learning to match candidate skills with job descriptions and generate compatibility scores.</a:t>
            </a:r>
          </a:p>
          <a:p>
            <a:endParaRPr lang="en-US" sz="2400" dirty="0">
              <a:latin typeface="Times New Roman" pitchFamily="18" charset="0"/>
              <a:cs typeface="Times New Roman" pitchFamily="18" charset="0"/>
            </a:endParaRPr>
          </a:p>
          <a:p>
            <a:pPr marL="0" indent="0">
              <a:buNone/>
            </a:pPr>
            <a:r>
              <a:rPr lang="en-US" sz="2400" b="1" dirty="0">
                <a:latin typeface="Times New Roman" pitchFamily="18" charset="0"/>
                <a:cs typeface="Times New Roman" pitchFamily="18" charset="0"/>
              </a:rPr>
              <a:t>Rai &amp; Kumar (2018):</a:t>
            </a:r>
          </a:p>
          <a:p>
            <a:pPr marL="0" indent="0">
              <a:buNone/>
            </a:pPr>
            <a:r>
              <a:rPr lang="en-US" sz="2400" dirty="0">
                <a:latin typeface="Times New Roman" pitchFamily="18" charset="0"/>
                <a:cs typeface="Times New Roman" pitchFamily="18" charset="0"/>
              </a:rPr>
              <a:t>Introduced an automated resume analysis system using text mining techniques to extract information and support recruitment decisions.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77240"/>
          </a:xfrm>
        </p:spPr>
        <p:txBody>
          <a:bodyPr/>
          <a:lstStyle/>
          <a:p>
            <a:r>
              <a:rPr dirty="0"/>
              <a:t>E</a:t>
            </a:r>
            <a:r>
              <a:rPr lang="en-US" dirty="0"/>
              <a:t>XISTING SYSTEM</a:t>
            </a:r>
            <a:endParaRPr dirty="0"/>
          </a:p>
        </p:txBody>
      </p:sp>
      <p:sp>
        <p:nvSpPr>
          <p:cNvPr id="3" name="Content Placeholder 2"/>
          <p:cNvSpPr>
            <a:spLocks noGrp="1"/>
          </p:cNvSpPr>
          <p:nvPr>
            <p:ph idx="1"/>
          </p:nvPr>
        </p:nvSpPr>
        <p:spPr>
          <a:xfrm>
            <a:off x="457199" y="850392"/>
            <a:ext cx="8096865" cy="3749040"/>
          </a:xfrm>
        </p:spPr>
        <p:txBody>
          <a:bodyPr/>
          <a:lstStyle/>
          <a:p>
            <a:pPr>
              <a:buNone/>
            </a:pPr>
            <a:endParaRPr dirty="0"/>
          </a:p>
          <a:p>
            <a:r>
              <a:rPr lang="en-US" sz="2400" dirty="0">
                <a:latin typeface="Times New Roman" pitchFamily="18" charset="0"/>
                <a:cs typeface="Times New Roman" pitchFamily="18" charset="0"/>
              </a:rPr>
              <a:t>Use of Applicant Tracking Systems (ATS) for resume filtering.</a:t>
            </a:r>
          </a:p>
          <a:p>
            <a:r>
              <a:rPr lang="en-US" sz="2400" dirty="0">
                <a:latin typeface="Times New Roman" pitchFamily="18" charset="0"/>
                <a:cs typeface="Times New Roman" pitchFamily="18" charset="0"/>
              </a:rPr>
              <a:t>Dependency on keyword matching without deeper analysis. </a:t>
            </a:r>
          </a:p>
          <a:p>
            <a:r>
              <a:rPr lang="en-US" sz="2400" dirty="0">
                <a:latin typeface="Times New Roman" pitchFamily="18" charset="0"/>
                <a:cs typeface="Times New Roman" pitchFamily="18" charset="0"/>
              </a:rPr>
              <a:t>No clear identification of missing skills or improvement areas</a:t>
            </a:r>
          </a:p>
          <a:p>
            <a:r>
              <a:rPr lang="en-US" sz="2400" dirty="0">
                <a:latin typeface="Times New Roman" pitchFamily="18" charset="0"/>
                <a:cs typeface="Times New Roman" pitchFamily="18" charset="0"/>
              </a:rPr>
              <a:t>Lack of resume completeness evaluation.</a:t>
            </a:r>
          </a:p>
          <a:p>
            <a:r>
              <a:rPr lang="en-US" sz="2400" dirty="0">
                <a:latin typeface="Times New Roman" pitchFamily="18" charset="0"/>
                <a:cs typeface="Times New Roman" pitchFamily="18" charset="0"/>
              </a:rPr>
              <a:t>No feature to track resume performance over multiple applications.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68096"/>
          </a:xfrm>
        </p:spPr>
        <p:txBody>
          <a:bodyPr/>
          <a:lstStyle/>
          <a:p>
            <a:r>
              <a:rPr dirty="0"/>
              <a:t>P</a:t>
            </a:r>
            <a:r>
              <a:rPr lang="en-US" dirty="0"/>
              <a:t>ROPOSED</a:t>
            </a:r>
            <a:r>
              <a:rPr dirty="0"/>
              <a:t> S</a:t>
            </a:r>
            <a:r>
              <a:rPr lang="en-US" dirty="0"/>
              <a:t>YSTEM</a:t>
            </a:r>
            <a:endParaRPr dirty="0"/>
          </a:p>
        </p:txBody>
      </p:sp>
      <p:sp>
        <p:nvSpPr>
          <p:cNvPr id="3" name="Content Placeholder 2"/>
          <p:cNvSpPr>
            <a:spLocks noGrp="1"/>
          </p:cNvSpPr>
          <p:nvPr>
            <p:ph idx="1"/>
          </p:nvPr>
        </p:nvSpPr>
        <p:spPr>
          <a:xfrm>
            <a:off x="457200" y="841247"/>
            <a:ext cx="8229600" cy="3598017"/>
          </a:xfrm>
        </p:spPr>
        <p:txBody>
          <a:bodyPr>
            <a:normAutofit/>
          </a:bodyPr>
          <a:lstStyle/>
          <a:p>
            <a:endParaRPr dirty="0"/>
          </a:p>
          <a:p>
            <a:r>
              <a:rPr lang="en-US" sz="2400" dirty="0">
                <a:latin typeface="Times New Roman" pitchFamily="18" charset="0"/>
                <a:cs typeface="Times New Roman" pitchFamily="18" charset="0"/>
              </a:rPr>
              <a:t>Automated resume analysis based on job description.</a:t>
            </a:r>
          </a:p>
          <a:p>
            <a:r>
              <a:rPr lang="en-US" sz="2400" dirty="0">
                <a:latin typeface="Times New Roman" pitchFamily="18" charset="0"/>
                <a:cs typeface="Times New Roman" pitchFamily="18" charset="0"/>
              </a:rPr>
              <a:t>Calculates keyword match, skill match, and completeness score.</a:t>
            </a:r>
          </a:p>
          <a:p>
            <a:r>
              <a:rPr lang="en-US" sz="2400" dirty="0">
                <a:latin typeface="Times New Roman" pitchFamily="18" charset="0"/>
                <a:cs typeface="Times New Roman" pitchFamily="18" charset="0"/>
              </a:rPr>
              <a:t>Clearly identifies matched and missing skills.</a:t>
            </a:r>
          </a:p>
          <a:p>
            <a:r>
              <a:rPr lang="en-US" sz="2400" dirty="0">
                <a:latin typeface="Times New Roman" pitchFamily="18" charset="0"/>
                <a:cs typeface="Times New Roman" pitchFamily="18" charset="0"/>
              </a:rPr>
              <a:t>Suggests suitable job roles based on user profile.</a:t>
            </a:r>
          </a:p>
          <a:p>
            <a:r>
              <a:rPr lang="en-US" sz="2400" dirty="0">
                <a:latin typeface="Times New Roman" pitchFamily="18" charset="0"/>
                <a:cs typeface="Times New Roman" pitchFamily="18" charset="0"/>
              </a:rPr>
              <a:t>Provides performance tracking using graphical representation.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239000" cy="1097280"/>
          </a:xfrm>
        </p:spPr>
        <p:txBody>
          <a:bodyPr/>
          <a:lstStyle/>
          <a:p>
            <a:r>
              <a:rPr lang="en-US" dirty="0"/>
              <a:t>SYSTEM </a:t>
            </a:r>
            <a:r>
              <a:rPr dirty="0"/>
              <a:t>A</a:t>
            </a:r>
            <a:r>
              <a:rPr lang="en-US" dirty="0"/>
              <a:t>RCHITECTURE</a:t>
            </a:r>
            <a:endParaRPr dirty="0"/>
          </a:p>
        </p:txBody>
      </p:sp>
      <p:pic>
        <p:nvPicPr>
          <p:cNvPr id="9" name="Picture 8">
            <a:extLst>
              <a:ext uri="{FF2B5EF4-FFF2-40B4-BE49-F238E27FC236}">
                <a16:creationId xmlns:a16="http://schemas.microsoft.com/office/drawing/2014/main" id="{3CC862B6-D689-ED83-9B9C-EDABE3F2820D}"/>
              </a:ext>
            </a:extLst>
          </p:cNvPr>
          <p:cNvPicPr>
            <a:picLocks noChangeAspect="1"/>
          </p:cNvPicPr>
          <p:nvPr/>
        </p:nvPicPr>
        <p:blipFill>
          <a:blip r:embed="rId2"/>
          <a:stretch>
            <a:fillRect/>
          </a:stretch>
        </p:blipFill>
        <p:spPr>
          <a:xfrm>
            <a:off x="2154007" y="870154"/>
            <a:ext cx="4835985" cy="56191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59536"/>
          </a:xfrm>
        </p:spPr>
        <p:txBody>
          <a:bodyPr/>
          <a:lstStyle/>
          <a:p>
            <a:r>
              <a:rPr dirty="0"/>
              <a:t>Methodology</a:t>
            </a:r>
          </a:p>
        </p:txBody>
      </p:sp>
      <p:sp>
        <p:nvSpPr>
          <p:cNvPr id="3" name="Content Placeholder 2"/>
          <p:cNvSpPr>
            <a:spLocks noGrp="1"/>
          </p:cNvSpPr>
          <p:nvPr>
            <p:ph idx="1"/>
          </p:nvPr>
        </p:nvSpPr>
        <p:spPr>
          <a:xfrm>
            <a:off x="457200" y="1078992"/>
            <a:ext cx="8450826" cy="5385888"/>
          </a:xfrm>
        </p:spPr>
        <p:txBody>
          <a:bodyPr>
            <a:normAutofit/>
          </a:bodyPr>
          <a:lstStyle/>
          <a:p>
            <a:endParaRPr dirty="0"/>
          </a:p>
          <a:p>
            <a:r>
              <a:rPr lang="en-US" sz="2200" dirty="0">
                <a:latin typeface="Times New Roman" pitchFamily="18" charset="0"/>
                <a:cs typeface="Times New Roman" pitchFamily="18" charset="0"/>
              </a:rPr>
              <a:t>User Input :User logs in and uploads resume.</a:t>
            </a:r>
          </a:p>
          <a:p>
            <a:r>
              <a:rPr lang="en-US" sz="2200" dirty="0">
                <a:latin typeface="Times New Roman" pitchFamily="18" charset="0"/>
                <a:cs typeface="Times New Roman" pitchFamily="18" charset="0"/>
              </a:rPr>
              <a:t>Resume Parsing: Apache Tika extracts text from the resume.</a:t>
            </a:r>
          </a:p>
          <a:p>
            <a:r>
              <a:rPr lang="en-US" sz="2200" dirty="0">
                <a:latin typeface="Times New Roman" pitchFamily="18" charset="0"/>
                <a:cs typeface="Times New Roman" pitchFamily="18" charset="0"/>
              </a:rPr>
              <a:t>Preprocessing: Convert text to lowercase, Remove special characters, Tokenization (split into words).</a:t>
            </a:r>
          </a:p>
          <a:p>
            <a:r>
              <a:rPr lang="en-US" sz="2200" dirty="0">
                <a:latin typeface="Times New Roman" pitchFamily="18" charset="0"/>
                <a:cs typeface="Times New Roman" pitchFamily="18" charset="0"/>
              </a:rPr>
              <a:t>Keyword Extraction: Extract important skills/keywords from resume, Compare with predefined job description keywords.</a:t>
            </a:r>
          </a:p>
          <a:p>
            <a:r>
              <a:rPr lang="en-US" sz="2200" dirty="0">
                <a:latin typeface="Times New Roman" pitchFamily="18" charset="0"/>
                <a:cs typeface="Times New Roman" pitchFamily="18" charset="0"/>
              </a:rPr>
              <a:t>Skill Analysis: Identifies matched skills and missing skills.</a:t>
            </a:r>
          </a:p>
          <a:p>
            <a:r>
              <a:rPr lang="en-US" sz="2200" dirty="0">
                <a:latin typeface="Times New Roman" pitchFamily="18" charset="0"/>
                <a:cs typeface="Times New Roman" pitchFamily="18" charset="0"/>
              </a:rPr>
              <a:t>Score Calculation: Keyword Match Score, Skill Match Score, Resume Completeness Score.</a:t>
            </a:r>
          </a:p>
          <a:p>
            <a:r>
              <a:rPr lang="en-US" sz="2200" dirty="0">
                <a:latin typeface="Times New Roman" pitchFamily="18" charset="0"/>
                <a:cs typeface="Times New Roman" pitchFamily="18" charset="0"/>
              </a:rPr>
              <a:t>Job Recommendation: Suggest job roles based on matched skills.</a:t>
            </a:r>
          </a:p>
          <a:p>
            <a:r>
              <a:rPr lang="en-US" sz="2200" dirty="0">
                <a:latin typeface="Times New Roman" pitchFamily="18" charset="0"/>
                <a:cs typeface="Times New Roman" pitchFamily="18" charset="0"/>
              </a:rPr>
              <a:t>Result Display: Shows Scores, Missing skills, Recommended jobs, Graphical representation and saved history.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86384"/>
          </a:xfrm>
        </p:spPr>
        <p:txBody>
          <a:bodyPr/>
          <a:lstStyle/>
          <a:p>
            <a:r>
              <a:rPr dirty="0"/>
              <a:t>Algorithm</a:t>
            </a:r>
          </a:p>
        </p:txBody>
      </p:sp>
      <p:sp>
        <p:nvSpPr>
          <p:cNvPr id="3" name="Content Placeholder 2"/>
          <p:cNvSpPr>
            <a:spLocks noGrp="1"/>
          </p:cNvSpPr>
          <p:nvPr>
            <p:ph idx="1"/>
          </p:nvPr>
        </p:nvSpPr>
        <p:spPr>
          <a:xfrm>
            <a:off x="457200" y="813816"/>
            <a:ext cx="7239000" cy="5641920"/>
          </a:xfrm>
        </p:spPr>
        <p:txBody>
          <a:bodyPr/>
          <a:lstStyle/>
          <a:p>
            <a:endParaRPr dirty="0"/>
          </a:p>
          <a:p>
            <a:pPr>
              <a:buNone/>
              <a:defRPr sz="2000"/>
            </a:pPr>
            <a:r>
              <a:rPr lang="en-US" b="1" dirty="0">
                <a:latin typeface="Times New Roman" pitchFamily="18" charset="0"/>
                <a:cs typeface="Times New Roman" pitchFamily="18" charset="0"/>
              </a:rPr>
              <a:t>Keyword Matching &amp; Scoring Algorithm</a:t>
            </a:r>
            <a:endParaRPr b="1" dirty="0">
              <a:latin typeface="Times New Roman" pitchFamily="18" charset="0"/>
              <a:cs typeface="Times New Roman" pitchFamily="18" charset="0"/>
            </a:endParaRPr>
          </a:p>
          <a:p>
            <a:pPr>
              <a:defRPr sz="2000"/>
            </a:pPr>
            <a:r>
              <a:rPr lang="en-US" dirty="0">
                <a:latin typeface="Times New Roman" pitchFamily="18" charset="0"/>
                <a:cs typeface="Times New Roman" pitchFamily="18" charset="0"/>
              </a:rPr>
              <a:t>Extract and preprocess resume text</a:t>
            </a:r>
          </a:p>
          <a:p>
            <a:pPr>
              <a:defRPr sz="2000"/>
            </a:pPr>
            <a:r>
              <a:rPr lang="en-US" dirty="0">
                <a:latin typeface="Times New Roman" pitchFamily="18" charset="0"/>
                <a:cs typeface="Times New Roman" pitchFamily="18" charset="0"/>
              </a:rPr>
              <a:t>Compare with job keywords</a:t>
            </a:r>
          </a:p>
          <a:p>
            <a:pPr>
              <a:defRPr sz="2000"/>
            </a:pPr>
            <a:r>
              <a:rPr lang="en-US" dirty="0">
                <a:latin typeface="Times New Roman" pitchFamily="18" charset="0"/>
                <a:cs typeface="Times New Roman" pitchFamily="18" charset="0"/>
              </a:rPr>
              <a:t>Count matched and missing skills</a:t>
            </a:r>
          </a:p>
          <a:p>
            <a:pPr>
              <a:defRPr sz="2000"/>
            </a:pPr>
            <a:r>
              <a:rPr lang="en-US" dirty="0">
                <a:latin typeface="Times New Roman" pitchFamily="18" charset="0"/>
                <a:cs typeface="Times New Roman" pitchFamily="18" charset="0"/>
              </a:rPr>
              <a:t>Calculate match score</a:t>
            </a:r>
          </a:p>
          <a:p>
            <a:pPr>
              <a:defRPr sz="2000"/>
            </a:pPr>
            <a:r>
              <a:rPr lang="en-US" dirty="0">
                <a:latin typeface="Times New Roman" pitchFamily="18" charset="0"/>
                <a:cs typeface="Times New Roman" pitchFamily="18" charset="0"/>
              </a:rPr>
              <a:t>Classify result and recommend jobs</a:t>
            </a:r>
            <a:endParaRPr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13232"/>
          </a:xfrm>
        </p:spPr>
        <p:txBody>
          <a:bodyPr/>
          <a:lstStyle/>
          <a:p>
            <a:r>
              <a:rPr dirty="0"/>
              <a:t>Technologies</a:t>
            </a:r>
          </a:p>
        </p:txBody>
      </p:sp>
      <p:sp>
        <p:nvSpPr>
          <p:cNvPr id="3" name="Content Placeholder 2"/>
          <p:cNvSpPr>
            <a:spLocks noGrp="1"/>
          </p:cNvSpPr>
          <p:nvPr>
            <p:ph idx="1"/>
          </p:nvPr>
        </p:nvSpPr>
        <p:spPr>
          <a:xfrm>
            <a:off x="457200" y="850392"/>
            <a:ext cx="7239000" cy="5605344"/>
          </a:xfrm>
        </p:spPr>
        <p:txBody>
          <a:bodyPr/>
          <a:lstStyle/>
          <a:p>
            <a:endParaRPr dirty="0"/>
          </a:p>
          <a:p>
            <a:pPr>
              <a:defRPr sz="2000"/>
            </a:pPr>
            <a:r>
              <a:rPr lang="en-US" dirty="0">
                <a:latin typeface="Times New Roman" pitchFamily="18" charset="0"/>
                <a:cs typeface="Times New Roman" pitchFamily="18" charset="0"/>
              </a:rPr>
              <a:t>Backend: Java, Spring Boot</a:t>
            </a:r>
            <a:endParaRPr dirty="0">
              <a:latin typeface="Times New Roman" pitchFamily="18" charset="0"/>
              <a:cs typeface="Times New Roman" pitchFamily="18" charset="0"/>
            </a:endParaRPr>
          </a:p>
          <a:p>
            <a:pPr>
              <a:defRPr sz="2000"/>
            </a:pPr>
            <a:r>
              <a:rPr lang="en-US" dirty="0">
                <a:latin typeface="Times New Roman" pitchFamily="18" charset="0"/>
                <a:cs typeface="Times New Roman" pitchFamily="18" charset="0"/>
              </a:rPr>
              <a:t>Frontend: HTML, CSS, </a:t>
            </a:r>
            <a:r>
              <a:rPr lang="en-US" dirty="0" err="1">
                <a:latin typeface="Times New Roman" pitchFamily="18" charset="0"/>
                <a:cs typeface="Times New Roman" pitchFamily="18" charset="0"/>
              </a:rPr>
              <a:t>Thymeleaf</a:t>
            </a:r>
            <a:endParaRPr dirty="0">
              <a:latin typeface="Times New Roman" pitchFamily="18" charset="0"/>
              <a:cs typeface="Times New Roman" pitchFamily="18" charset="0"/>
            </a:endParaRPr>
          </a:p>
          <a:p>
            <a:pPr>
              <a:defRPr sz="2000"/>
            </a:pPr>
            <a:r>
              <a:rPr lang="en-US" dirty="0">
                <a:latin typeface="Times New Roman" pitchFamily="18" charset="0"/>
                <a:cs typeface="Times New Roman" pitchFamily="18" charset="0"/>
              </a:rPr>
              <a:t>Database: </a:t>
            </a:r>
            <a:r>
              <a:rPr dirty="0">
                <a:latin typeface="Times New Roman" pitchFamily="18" charset="0"/>
                <a:cs typeface="Times New Roman" pitchFamily="18" charset="0"/>
              </a:rPr>
              <a:t>MySQL</a:t>
            </a:r>
          </a:p>
          <a:p>
            <a:pPr>
              <a:defRPr sz="2000"/>
            </a:pPr>
            <a:r>
              <a:rPr lang="en-US" dirty="0">
                <a:latin typeface="Times New Roman" pitchFamily="18" charset="0"/>
                <a:cs typeface="Times New Roman" pitchFamily="18" charset="0"/>
              </a:rPr>
              <a:t>Library: Apache Tika (for resume parsing)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95528"/>
          </a:xfrm>
        </p:spPr>
        <p:txBody>
          <a:bodyPr/>
          <a:lstStyle/>
          <a:p>
            <a:r>
              <a:rPr lang="en-US" dirty="0"/>
              <a:t>IMPLEMENTATION</a:t>
            </a:r>
            <a:endParaRPr dirty="0"/>
          </a:p>
        </p:txBody>
      </p:sp>
      <p:sp>
        <p:nvSpPr>
          <p:cNvPr id="3" name="Content Placeholder 2"/>
          <p:cNvSpPr>
            <a:spLocks noGrp="1"/>
          </p:cNvSpPr>
          <p:nvPr>
            <p:ph idx="1"/>
          </p:nvPr>
        </p:nvSpPr>
        <p:spPr>
          <a:xfrm>
            <a:off x="457200" y="1115568"/>
            <a:ext cx="8229600" cy="4891723"/>
          </a:xfrm>
        </p:spPr>
        <p:txBody>
          <a:bodyPr>
            <a:normAutofit fontScale="77500" lnSpcReduction="20000"/>
          </a:bodyPr>
          <a:lstStyle/>
          <a:p>
            <a:endParaRPr dirty="0"/>
          </a:p>
          <a:p>
            <a:r>
              <a:rPr lang="en-US" sz="2800" dirty="0">
                <a:latin typeface="Times New Roman" pitchFamily="18" charset="0"/>
                <a:cs typeface="Times New Roman" pitchFamily="18" charset="0"/>
              </a:rPr>
              <a:t>The project is developed using Spring Boot with layered architecture</a:t>
            </a:r>
          </a:p>
          <a:p>
            <a:r>
              <a:rPr lang="en-US" sz="2800" dirty="0">
                <a:latin typeface="Times New Roman" pitchFamily="18" charset="0"/>
                <a:cs typeface="Times New Roman" pitchFamily="18" charset="0"/>
              </a:rPr>
              <a:t>Frontend is created using HTML, CSS, and </a:t>
            </a:r>
            <a:r>
              <a:rPr lang="en-US" sz="2800" dirty="0" err="1">
                <a:latin typeface="Times New Roman" pitchFamily="18" charset="0"/>
                <a:cs typeface="Times New Roman" pitchFamily="18" charset="0"/>
              </a:rPr>
              <a:t>Thymeleaf</a:t>
            </a:r>
            <a:endParaRPr lang="en-US" sz="2800" dirty="0">
              <a:latin typeface="Times New Roman" pitchFamily="18" charset="0"/>
              <a:cs typeface="Times New Roman" pitchFamily="18" charset="0"/>
            </a:endParaRPr>
          </a:p>
          <a:p>
            <a:r>
              <a:rPr lang="en-US" sz="2800" dirty="0">
                <a:latin typeface="Times New Roman" pitchFamily="18" charset="0"/>
                <a:cs typeface="Times New Roman" pitchFamily="18" charset="0"/>
              </a:rPr>
              <a:t>Resume parsing implemented using Apache Tika</a:t>
            </a:r>
          </a:p>
          <a:p>
            <a:r>
              <a:rPr lang="en-US" sz="2800" dirty="0">
                <a:latin typeface="Times New Roman" pitchFamily="18" charset="0"/>
                <a:cs typeface="Times New Roman" pitchFamily="18" charset="0"/>
              </a:rPr>
              <a:t>Database integration done using MySQL and JPA Repository</a:t>
            </a:r>
          </a:p>
          <a:p>
            <a:r>
              <a:rPr lang="en-US" sz="2800" dirty="0">
                <a:latin typeface="Times New Roman" pitchFamily="18" charset="0"/>
                <a:cs typeface="Times New Roman" pitchFamily="18" charset="0"/>
              </a:rPr>
              <a:t>Analysis logic implemented in Service Layer</a:t>
            </a:r>
          </a:p>
          <a:p>
            <a:endParaRPr lang="en-US" sz="2800" b="1" dirty="0">
              <a:latin typeface="Times New Roman" pitchFamily="18" charset="0"/>
              <a:cs typeface="Times New Roman" pitchFamily="18" charset="0"/>
            </a:endParaRPr>
          </a:p>
          <a:p>
            <a:pPr marL="0" indent="0">
              <a:buNone/>
            </a:pPr>
            <a:r>
              <a:rPr lang="en-US" sz="2800" b="1" dirty="0">
                <a:latin typeface="Times New Roman" pitchFamily="18" charset="0"/>
                <a:cs typeface="Times New Roman" pitchFamily="18" charset="0"/>
              </a:rPr>
              <a:t>Modules developed: </a:t>
            </a:r>
          </a:p>
          <a:p>
            <a:r>
              <a:rPr lang="en-US" sz="2800" b="1" dirty="0">
                <a:latin typeface="Times New Roman" pitchFamily="18" charset="0"/>
                <a:cs typeface="Times New Roman" pitchFamily="18" charset="0"/>
              </a:rPr>
              <a:t>User Module: </a:t>
            </a:r>
            <a:r>
              <a:rPr lang="en-US" sz="2800" dirty="0">
                <a:latin typeface="Times New Roman" pitchFamily="18" charset="0"/>
                <a:cs typeface="Times New Roman" pitchFamily="18" charset="0"/>
              </a:rPr>
              <a:t>User registration and login functionality</a:t>
            </a:r>
          </a:p>
          <a:p>
            <a:r>
              <a:rPr lang="en-US" sz="2800" b="1" dirty="0">
                <a:latin typeface="Times New Roman" pitchFamily="18" charset="0"/>
                <a:cs typeface="Times New Roman" pitchFamily="18" charset="0"/>
              </a:rPr>
              <a:t>Resume Upload Module: </a:t>
            </a:r>
            <a:r>
              <a:rPr lang="en-US" sz="2800" dirty="0">
                <a:latin typeface="Times New Roman" pitchFamily="18" charset="0"/>
                <a:cs typeface="Times New Roman" pitchFamily="18" charset="0"/>
              </a:rPr>
              <a:t>Upload and process resume files</a:t>
            </a:r>
          </a:p>
          <a:p>
            <a:r>
              <a:rPr lang="en-US" sz="2800" b="1" dirty="0">
                <a:latin typeface="Times New Roman" pitchFamily="18" charset="0"/>
                <a:cs typeface="Times New Roman" pitchFamily="18" charset="0"/>
              </a:rPr>
              <a:t>Analysis Module</a:t>
            </a:r>
            <a:r>
              <a:rPr lang="en-US" sz="2800" dirty="0">
                <a:latin typeface="Times New Roman" pitchFamily="18" charset="0"/>
                <a:cs typeface="Times New Roman" pitchFamily="18" charset="0"/>
              </a:rPr>
              <a:t>: Perform keyword matching and score calculation</a:t>
            </a:r>
          </a:p>
          <a:p>
            <a:r>
              <a:rPr lang="en-US" sz="2800" b="1" dirty="0">
                <a:latin typeface="Times New Roman" pitchFamily="18" charset="0"/>
                <a:cs typeface="Times New Roman" pitchFamily="18" charset="0"/>
              </a:rPr>
              <a:t>Result Module: </a:t>
            </a:r>
            <a:r>
              <a:rPr lang="en-US" sz="2800" dirty="0">
                <a:latin typeface="Times New Roman" pitchFamily="18" charset="0"/>
                <a:cs typeface="Times New Roman" pitchFamily="18" charset="0"/>
              </a:rPr>
              <a:t>Display scores, skills, and graph</a:t>
            </a:r>
          </a:p>
          <a:p>
            <a:r>
              <a:rPr lang="en-US" sz="2800" b="1" dirty="0">
                <a:latin typeface="Times New Roman" pitchFamily="18" charset="0"/>
                <a:cs typeface="Times New Roman" pitchFamily="18" charset="0"/>
              </a:rPr>
              <a:t>Admin Module: </a:t>
            </a:r>
            <a:r>
              <a:rPr lang="en-US" sz="2800" dirty="0">
                <a:latin typeface="Times New Roman" pitchFamily="18" charset="0"/>
                <a:cs typeface="Times New Roman" pitchFamily="18" charset="0"/>
              </a:rPr>
              <a:t>Manage users (view, suspend, delete accounts)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77240"/>
          </a:xfrm>
        </p:spPr>
        <p:txBody>
          <a:bodyPr/>
          <a:lstStyle/>
          <a:p>
            <a:r>
              <a:rPr dirty="0"/>
              <a:t>Results</a:t>
            </a:r>
          </a:p>
        </p:txBody>
      </p:sp>
      <p:pic>
        <p:nvPicPr>
          <p:cNvPr id="2054" name="Picture 6"/>
          <p:cNvPicPr>
            <a:picLocks noGrp="1" noChangeAspect="1" noChangeArrowheads="1"/>
          </p:cNvPicPr>
          <p:nvPr>
            <p:ph idx="1"/>
          </p:nvPr>
        </p:nvPicPr>
        <p:blipFill>
          <a:blip r:embed="rId2"/>
          <a:srcRect/>
          <a:stretch/>
        </p:blipFill>
        <p:spPr bwMode="auto">
          <a:xfrm>
            <a:off x="5221226" y="1097280"/>
            <a:ext cx="3392424" cy="4993803"/>
          </a:xfrm>
          <a:prstGeom prst="rect">
            <a:avLst/>
          </a:prstGeom>
          <a:noFill/>
          <a:ln w="9525">
            <a:noFill/>
            <a:miter lim="800000"/>
            <a:headEnd/>
            <a:tailEnd/>
          </a:ln>
        </p:spPr>
      </p:pic>
      <p:pic>
        <p:nvPicPr>
          <p:cNvPr id="2053" name="Picture 5"/>
          <p:cNvPicPr>
            <a:picLocks noChangeAspect="1" noChangeArrowheads="1"/>
          </p:cNvPicPr>
          <p:nvPr/>
        </p:nvPicPr>
        <p:blipFill>
          <a:blip r:embed="rId3"/>
          <a:srcRect/>
          <a:stretch/>
        </p:blipFill>
        <p:spPr bwMode="auto">
          <a:xfrm>
            <a:off x="252984" y="1991032"/>
            <a:ext cx="4761468" cy="348062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20040"/>
            <a:ext cx="7239000" cy="731520"/>
          </a:xfrm>
        </p:spPr>
        <p:txBody>
          <a:bodyPr/>
          <a:lstStyle/>
          <a:p>
            <a:r>
              <a:rPr lang="en-US" dirty="0"/>
              <a:t>RESULTS</a:t>
            </a:r>
          </a:p>
        </p:txBody>
      </p:sp>
      <p:pic>
        <p:nvPicPr>
          <p:cNvPr id="3075" name="Picture 3"/>
          <p:cNvPicPr>
            <a:picLocks noGrp="1" noChangeAspect="1" noChangeArrowheads="1"/>
          </p:cNvPicPr>
          <p:nvPr>
            <p:ph idx="1"/>
          </p:nvPr>
        </p:nvPicPr>
        <p:blipFill>
          <a:blip r:embed="rId2"/>
          <a:srcRect/>
          <a:stretch/>
        </p:blipFill>
        <p:spPr bwMode="auto">
          <a:xfrm>
            <a:off x="1649362" y="3429000"/>
            <a:ext cx="6046838" cy="3105418"/>
          </a:xfrm>
          <a:prstGeom prst="rect">
            <a:avLst/>
          </a:prstGeom>
          <a:noFill/>
          <a:ln w="9525">
            <a:noFill/>
            <a:miter lim="800000"/>
            <a:headEnd/>
            <a:tailEnd/>
          </a:ln>
        </p:spPr>
      </p:pic>
      <p:pic>
        <p:nvPicPr>
          <p:cNvPr id="3074" name="Picture 2"/>
          <p:cNvPicPr>
            <a:picLocks noChangeAspect="1" noChangeArrowheads="1"/>
          </p:cNvPicPr>
          <p:nvPr/>
        </p:nvPicPr>
        <p:blipFill>
          <a:blip r:embed="rId3"/>
          <a:srcRect/>
          <a:stretch/>
        </p:blipFill>
        <p:spPr bwMode="auto">
          <a:xfrm>
            <a:off x="1649362" y="1051560"/>
            <a:ext cx="6046837" cy="2201052"/>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77824"/>
          </a:xfrm>
        </p:spPr>
        <p:txBody>
          <a:bodyPr/>
          <a:lstStyle/>
          <a:p>
            <a:r>
              <a:rPr dirty="0"/>
              <a:t>A</a:t>
            </a:r>
            <a:r>
              <a:rPr lang="en-US" dirty="0"/>
              <a:t>DVANTAGES</a:t>
            </a:r>
            <a:endParaRPr dirty="0"/>
          </a:p>
        </p:txBody>
      </p:sp>
      <p:sp>
        <p:nvSpPr>
          <p:cNvPr id="3" name="Content Placeholder 2"/>
          <p:cNvSpPr>
            <a:spLocks noGrp="1"/>
          </p:cNvSpPr>
          <p:nvPr>
            <p:ph idx="1"/>
          </p:nvPr>
        </p:nvSpPr>
        <p:spPr>
          <a:xfrm>
            <a:off x="457200" y="1069848"/>
            <a:ext cx="8391832" cy="5385888"/>
          </a:xfrm>
        </p:spPr>
        <p:txBody>
          <a:bodyPr>
            <a:normAutofit/>
          </a:bodyPr>
          <a:lstStyle/>
          <a:p>
            <a:endParaRPr dirty="0"/>
          </a:p>
          <a:p>
            <a:r>
              <a:rPr lang="en-US" sz="2400" dirty="0">
                <a:latin typeface="Times New Roman" pitchFamily="18" charset="0"/>
                <a:cs typeface="Times New Roman" pitchFamily="18" charset="0"/>
              </a:rPr>
              <a:t>Automates resume analysis and reduces manual effort.</a:t>
            </a:r>
          </a:p>
          <a:p>
            <a:r>
              <a:rPr lang="en-US" sz="2400" dirty="0">
                <a:latin typeface="Times New Roman" pitchFamily="18" charset="0"/>
                <a:cs typeface="Times New Roman" pitchFamily="18" charset="0"/>
              </a:rPr>
              <a:t>Provides quick and clear match score.</a:t>
            </a:r>
          </a:p>
          <a:p>
            <a:r>
              <a:rPr lang="en-US" sz="2400" dirty="0">
                <a:latin typeface="Times New Roman" pitchFamily="18" charset="0"/>
                <a:cs typeface="Times New Roman" pitchFamily="18" charset="0"/>
              </a:rPr>
              <a:t>Identifies matched and missing skills effectively.</a:t>
            </a:r>
          </a:p>
          <a:p>
            <a:r>
              <a:rPr lang="en-US" sz="2400" dirty="0">
                <a:latin typeface="Times New Roman" pitchFamily="18" charset="0"/>
                <a:cs typeface="Times New Roman" pitchFamily="18" charset="0"/>
              </a:rPr>
              <a:t>Helps users improve resumes based on feedback.</a:t>
            </a:r>
          </a:p>
          <a:p>
            <a:r>
              <a:rPr lang="en-US" sz="2400" dirty="0">
                <a:latin typeface="Times New Roman" pitchFamily="18" charset="0"/>
                <a:cs typeface="Times New Roman" pitchFamily="18" charset="0"/>
              </a:rPr>
              <a:t>Suggests suitable job roles based on profile.</a:t>
            </a:r>
          </a:p>
          <a:p>
            <a:r>
              <a:rPr lang="en-US" sz="2400" dirty="0">
                <a:latin typeface="Times New Roman" pitchFamily="18" charset="0"/>
                <a:cs typeface="Times New Roman" pitchFamily="18" charset="0"/>
              </a:rPr>
              <a:t>Tracks performance using graphical representation.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49808"/>
          </a:xfrm>
        </p:spPr>
        <p:txBody>
          <a:bodyPr/>
          <a:lstStyle/>
          <a:p>
            <a:r>
              <a:rPr lang="en-US" dirty="0"/>
              <a:t>LIMITATIONS</a:t>
            </a:r>
            <a:endParaRPr dirty="0"/>
          </a:p>
        </p:txBody>
      </p:sp>
      <p:sp>
        <p:nvSpPr>
          <p:cNvPr id="3" name="Content Placeholder 2"/>
          <p:cNvSpPr>
            <a:spLocks noGrp="1"/>
          </p:cNvSpPr>
          <p:nvPr>
            <p:ph idx="1"/>
          </p:nvPr>
        </p:nvSpPr>
        <p:spPr>
          <a:xfrm>
            <a:off x="457200" y="1069848"/>
            <a:ext cx="8229600" cy="4937443"/>
          </a:xfrm>
        </p:spPr>
        <p:txBody>
          <a:bodyPr/>
          <a:lstStyle/>
          <a:p>
            <a:endParaRPr dirty="0"/>
          </a:p>
          <a:p>
            <a:r>
              <a:rPr lang="en-US" sz="2400" dirty="0">
                <a:latin typeface="Times New Roman" pitchFamily="18" charset="0"/>
                <a:cs typeface="Times New Roman" pitchFamily="18" charset="0"/>
              </a:rPr>
              <a:t>Based only on keyword matching (no deep understanding).</a:t>
            </a:r>
          </a:p>
          <a:p>
            <a:r>
              <a:rPr lang="en-US" sz="2400" dirty="0">
                <a:latin typeface="Times New Roman" pitchFamily="18" charset="0"/>
                <a:cs typeface="Times New Roman" pitchFamily="18" charset="0"/>
              </a:rPr>
              <a:t>Limited job role mapping and predefined data.</a:t>
            </a:r>
          </a:p>
          <a:p>
            <a:r>
              <a:rPr lang="en-US" sz="2400" dirty="0">
                <a:latin typeface="Times New Roman" pitchFamily="18" charset="0"/>
                <a:cs typeface="Times New Roman" pitchFamily="18" charset="0"/>
              </a:rPr>
              <a:t>Does not support real-time job portal integration.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86384"/>
          </a:xfrm>
        </p:spPr>
        <p:txBody>
          <a:bodyPr/>
          <a:lstStyle/>
          <a:p>
            <a:r>
              <a:rPr dirty="0"/>
              <a:t>F</a:t>
            </a:r>
            <a:r>
              <a:rPr lang="en-US" dirty="0"/>
              <a:t>UTURE</a:t>
            </a:r>
            <a:r>
              <a:rPr dirty="0"/>
              <a:t> S</a:t>
            </a:r>
            <a:r>
              <a:rPr lang="en-US" dirty="0"/>
              <a:t>COPE</a:t>
            </a:r>
            <a:endParaRPr dirty="0"/>
          </a:p>
        </p:txBody>
      </p:sp>
      <p:sp>
        <p:nvSpPr>
          <p:cNvPr id="3" name="Content Placeholder 2"/>
          <p:cNvSpPr>
            <a:spLocks noGrp="1"/>
          </p:cNvSpPr>
          <p:nvPr>
            <p:ph idx="1"/>
          </p:nvPr>
        </p:nvSpPr>
        <p:spPr>
          <a:xfrm>
            <a:off x="457200" y="1280160"/>
            <a:ext cx="8686800" cy="5175576"/>
          </a:xfrm>
        </p:spPr>
        <p:txBody>
          <a:bodyPr>
            <a:normAutofit/>
          </a:bodyPr>
          <a:lstStyle/>
          <a:p>
            <a:r>
              <a:rPr lang="en-US" sz="2400" dirty="0">
                <a:latin typeface="Times New Roman" pitchFamily="18" charset="0"/>
                <a:cs typeface="Times New Roman" pitchFamily="18" charset="0"/>
              </a:rPr>
              <a:t>Integration with job portals (LinkedIn, Naukri, etc.).</a:t>
            </a:r>
          </a:p>
          <a:p>
            <a:r>
              <a:rPr lang="en-US" sz="2400" dirty="0">
                <a:latin typeface="Times New Roman" pitchFamily="18" charset="0"/>
                <a:cs typeface="Times New Roman" pitchFamily="18" charset="0"/>
              </a:rPr>
              <a:t>Use of AI/ML for better resume analysis.</a:t>
            </a:r>
          </a:p>
          <a:p>
            <a:r>
              <a:rPr lang="en-US" sz="2400" dirty="0">
                <a:latin typeface="Times New Roman" pitchFamily="18" charset="0"/>
                <a:cs typeface="Times New Roman" pitchFamily="18" charset="0"/>
              </a:rPr>
              <a:t>Advanced NLP for semantic understanding.</a:t>
            </a:r>
          </a:p>
          <a:p>
            <a:r>
              <a:rPr lang="en-US" sz="2400" dirty="0">
                <a:latin typeface="Times New Roman" pitchFamily="18" charset="0"/>
                <a:cs typeface="Times New Roman" pitchFamily="18" charset="0"/>
              </a:rPr>
              <a:t>Personalized recommendations and suggestions.</a:t>
            </a:r>
          </a:p>
          <a:p>
            <a:r>
              <a:rPr lang="en-US" sz="2400" dirty="0">
                <a:latin typeface="Times New Roman" pitchFamily="18" charset="0"/>
                <a:cs typeface="Times New Roman" pitchFamily="18" charset="0"/>
              </a:rPr>
              <a:t>Development of mobile application.</a:t>
            </a:r>
            <a:endParaRPr sz="24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2189"/>
            <a:ext cx="7239000" cy="896112"/>
          </a:xfrm>
        </p:spPr>
        <p:txBody>
          <a:bodyPr/>
          <a:lstStyle/>
          <a:p>
            <a:r>
              <a:rPr dirty="0"/>
              <a:t>Conclusion</a:t>
            </a:r>
          </a:p>
        </p:txBody>
      </p:sp>
      <p:sp>
        <p:nvSpPr>
          <p:cNvPr id="3" name="Content Placeholder 2"/>
          <p:cNvSpPr>
            <a:spLocks noGrp="1"/>
          </p:cNvSpPr>
          <p:nvPr>
            <p:ph idx="1"/>
          </p:nvPr>
        </p:nvSpPr>
        <p:spPr>
          <a:xfrm>
            <a:off x="457200" y="896112"/>
            <a:ext cx="8229600" cy="5833944"/>
          </a:xfrm>
        </p:spPr>
        <p:txBody>
          <a:bodyPr>
            <a:normAutofit/>
          </a:bodyPr>
          <a:lstStyle/>
          <a:p>
            <a:endParaRPr sz="2400" dirty="0">
              <a:latin typeface="Times New Roman" pitchFamily="18" charset="0"/>
              <a:cs typeface="Times New Roman" pitchFamily="18" charset="0"/>
            </a:endParaRPr>
          </a:p>
          <a:p>
            <a:pPr marL="0" indent="0" algn="just">
              <a:buNone/>
            </a:pPr>
            <a:r>
              <a:rPr lang="en-US" sz="2400" dirty="0">
                <a:latin typeface="Times New Roman" pitchFamily="18" charset="0"/>
                <a:cs typeface="Times New Roman" pitchFamily="18" charset="0"/>
              </a:rPr>
              <a:t>The Resume Analyzer System provides an efficient way to evaluate resumes based on job descriptions using a rule-based approach. It helps users identify skill gaps, improve resume quality, and understand suitable job roles. By automating the analysis process and providing clear results, the system reduces effort and enhances decision-making. Overall, the project successfully demonstrates a practical solution for resume evaluation.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20040"/>
            <a:ext cx="7239000" cy="768096"/>
          </a:xfrm>
        </p:spPr>
        <p:txBody>
          <a:bodyPr>
            <a:normAutofit/>
          </a:bodyPr>
          <a:lstStyle/>
          <a:p>
            <a:r>
              <a:rPr lang="en-US" sz="3600" dirty="0">
                <a:latin typeface="Times New Roman" pitchFamily="18" charset="0"/>
                <a:cs typeface="Times New Roman" pitchFamily="18" charset="0"/>
              </a:rPr>
              <a:t>REFERENCES</a:t>
            </a:r>
          </a:p>
        </p:txBody>
      </p:sp>
      <p:sp>
        <p:nvSpPr>
          <p:cNvPr id="2" name="Content Placeholder 1"/>
          <p:cNvSpPr>
            <a:spLocks noGrp="1"/>
          </p:cNvSpPr>
          <p:nvPr>
            <p:ph idx="1"/>
          </p:nvPr>
        </p:nvSpPr>
        <p:spPr/>
        <p:txBody>
          <a:bodyPr>
            <a:normAutofit/>
          </a:bodyPr>
          <a:lstStyle/>
          <a:p>
            <a:r>
              <a:rPr lang="nl-NL" sz="2400" i="1" dirty="0">
                <a:latin typeface="Times New Roman" pitchFamily="18" charset="0"/>
                <a:cs typeface="Times New Roman" pitchFamily="18" charset="0"/>
              </a:rPr>
              <a:t>Spring Boot Documentation:</a:t>
            </a:r>
            <a:r>
              <a:rPr lang="nl-NL" sz="2400" dirty="0">
                <a:solidFill>
                  <a:srgbClr val="92D050"/>
                </a:solidFill>
                <a:latin typeface="Times New Roman" pitchFamily="18" charset="0"/>
                <a:cs typeface="Times New Roman" pitchFamily="18" charset="0"/>
              </a:rPr>
              <a:t> </a:t>
            </a:r>
            <a:r>
              <a:rPr lang="nl-NL" sz="2400" dirty="0">
                <a:solidFill>
                  <a:srgbClr val="00B050"/>
                </a:solidFill>
                <a:latin typeface="Times New Roman" pitchFamily="18" charset="0"/>
                <a:cs typeface="Times New Roman" pitchFamily="18" charset="0"/>
                <a:hlinkClick r:id="rId2"/>
              </a:rPr>
              <a:t>https://spring.io</a:t>
            </a:r>
            <a:endParaRPr lang="nl-NL" sz="2400" dirty="0">
              <a:solidFill>
                <a:srgbClr val="00B050"/>
              </a:solidFill>
              <a:latin typeface="Times New Roman" pitchFamily="18" charset="0"/>
              <a:cs typeface="Times New Roman" pitchFamily="18" charset="0"/>
            </a:endParaRPr>
          </a:p>
          <a:p>
            <a:r>
              <a:rPr lang="en-US" sz="2400" i="1" dirty="0">
                <a:latin typeface="Times New Roman" pitchFamily="18" charset="0"/>
                <a:cs typeface="Times New Roman" pitchFamily="18" charset="0"/>
              </a:rPr>
              <a:t>MySQL Documentation:</a:t>
            </a:r>
            <a:r>
              <a:rPr lang="en-US" sz="2400" dirty="0">
                <a:latin typeface="Times New Roman" pitchFamily="18" charset="0"/>
                <a:cs typeface="Times New Roman" pitchFamily="18" charset="0"/>
              </a:rPr>
              <a:t> </a:t>
            </a:r>
            <a:r>
              <a:rPr lang="en-US" sz="2400" dirty="0">
                <a:latin typeface="Times New Roman" pitchFamily="18" charset="0"/>
                <a:cs typeface="Times New Roman" pitchFamily="18" charset="0"/>
                <a:hlinkClick r:id="rId3"/>
              </a:rPr>
              <a:t>https://www.mysql.com</a:t>
            </a:r>
            <a:endParaRPr lang="en-US" sz="2400" dirty="0">
              <a:latin typeface="Times New Roman" pitchFamily="18" charset="0"/>
              <a:cs typeface="Times New Roman" pitchFamily="18" charset="0"/>
            </a:endParaRPr>
          </a:p>
          <a:p>
            <a:r>
              <a:rPr lang="en-US" sz="2400" i="1" dirty="0">
                <a:latin typeface="Times New Roman" pitchFamily="18" charset="0"/>
                <a:cs typeface="Times New Roman" pitchFamily="18" charset="0"/>
              </a:rPr>
              <a:t>Apache Tika Documentation: </a:t>
            </a:r>
            <a:r>
              <a:rPr lang="en-US" sz="2400" i="1" dirty="0">
                <a:latin typeface="Times New Roman" pitchFamily="18" charset="0"/>
                <a:cs typeface="Times New Roman" pitchFamily="18" charset="0"/>
                <a:hlinkClick r:id="rId4"/>
              </a:rPr>
              <a:t>https://tika.apache.org</a:t>
            </a:r>
            <a:r>
              <a:rPr lang="en-US" sz="2400" i="1"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THANK YOU</a:t>
            </a:r>
          </a:p>
        </p:txBody>
      </p:sp>
      <p:sp>
        <p:nvSpPr>
          <p:cNvPr id="3" name="Content Placeholder 2"/>
          <p:cNvSpPr>
            <a:spLocks noGrp="1"/>
          </p:cNvSpPr>
          <p:nvPr>
            <p:ph idx="1"/>
          </p:nvPr>
        </p:nvSpPr>
        <p:spPr/>
        <p:txBody>
          <a:bodyPr/>
          <a:lstStyle/>
          <a:p>
            <a:pPr>
              <a:buNone/>
              <a:defRPr sz="2000"/>
            </a:pPr>
            <a:endParaRPr lang="en-US" dirty="0"/>
          </a:p>
          <a:p>
            <a:pPr>
              <a:buNone/>
              <a:defRPr sz="2000"/>
            </a:pPr>
            <a:endParaRPr lang="en-US" dirty="0"/>
          </a:p>
          <a:p>
            <a:pPr>
              <a:buNone/>
              <a:defRPr sz="2000"/>
            </a:pPr>
            <a:endParaRPr lang="en-US" dirty="0"/>
          </a:p>
          <a:p>
            <a:pPr>
              <a:buNone/>
              <a:defRPr sz="2000"/>
            </a:pPr>
            <a:endParaRPr lang="en-US" dirty="0"/>
          </a:p>
          <a:p>
            <a:pPr>
              <a:buNone/>
              <a:defRPr sz="2000"/>
            </a:pPr>
            <a:endParaRPr lang="en-US" dirty="0"/>
          </a:p>
        </p:txBody>
      </p:sp>
      <p:pic>
        <p:nvPicPr>
          <p:cNvPr id="7" name="Picture 6" descr="https://tse3.mm.bing.net/th/id/OIP.27zeFCTzF7UfMmHctfNfTAHaFF?pid=Api&amp;P=0&amp;h=180"/>
          <p:cNvPicPr/>
          <p:nvPr/>
        </p:nvPicPr>
        <p:blipFill>
          <a:blip r:embed="rId2"/>
          <a:srcRect/>
          <a:stretch>
            <a:fillRect/>
          </a:stretch>
        </p:blipFill>
        <p:spPr bwMode="auto">
          <a:xfrm>
            <a:off x="722376" y="1929384"/>
            <a:ext cx="7178039" cy="3886200"/>
          </a:xfrm>
          <a:prstGeom prst="rect">
            <a:avLst/>
          </a:prstGeom>
          <a:noFill/>
          <a:ln w="9525">
            <a:noFill/>
            <a:miter lim="800000"/>
            <a:headEnd/>
            <a:tailEnd/>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253</TotalTime>
  <Words>1070</Words>
  <Application>Microsoft Office PowerPoint</Application>
  <PresentationFormat>On-screen Show (4:3)</PresentationFormat>
  <Paragraphs>131</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Century Gothic</vt:lpstr>
      <vt:lpstr>Garamond</vt:lpstr>
      <vt:lpstr>Times New Roman</vt:lpstr>
      <vt:lpstr>Savon</vt:lpstr>
      <vt:lpstr>       SAI VIDYA INSTITUTE OF TECHNOLOGY                  PROJECT TITLE                   AUTOMATED RESUME ANALYZER</vt:lpstr>
      <vt:lpstr>INTRODUCTION</vt:lpstr>
      <vt:lpstr>PROBLEM STATEMENT</vt:lpstr>
      <vt:lpstr>OBJECTIVES</vt:lpstr>
      <vt:lpstr>SCOPE OF THE PROJECT </vt:lpstr>
      <vt:lpstr>LITERATURE REVIEW</vt:lpstr>
      <vt:lpstr>EXISTING SYSTEM</vt:lpstr>
      <vt:lpstr>PROPOSED SYSTEM</vt:lpstr>
      <vt:lpstr>SYSTEM ARCHITECTURE</vt:lpstr>
      <vt:lpstr>Methodology</vt:lpstr>
      <vt:lpstr>Algorithm</vt:lpstr>
      <vt:lpstr>Technologies</vt:lpstr>
      <vt:lpstr>IMPLEMENTATION</vt:lpstr>
      <vt:lpstr>Results</vt:lpstr>
      <vt:lpstr>RESULTS</vt:lpstr>
      <vt:lpstr>ADVANTAGES</vt:lpstr>
      <vt:lpstr>LIMITATIONS</vt:lpstr>
      <vt:lpstr>FUTURE SCOPE</vt:lpstr>
      <vt:lpstr>Conclusion</vt:lpstr>
      <vt:lpstr>REFERENCES</vt:lpstr>
      <vt:lpstr>THANK YOU</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 VIDYA INSTITUTE OF TECHNOLOGY                                                      PROJECT TITLE                            INTEREST BASED FRIEND FINDER</dc:title>
  <dc:creator>Nagaraj Dantareddy</dc:creator>
  <dc:description>generated using python-pptx</dc:description>
  <cp:lastModifiedBy>HP</cp:lastModifiedBy>
  <cp:revision>7</cp:revision>
  <dcterms:created xsi:type="dcterms:W3CDTF">2013-01-27T09:14:16Z</dcterms:created>
  <dcterms:modified xsi:type="dcterms:W3CDTF">2026-04-20T03:34:49Z</dcterms:modified>
</cp:coreProperties>
</file>